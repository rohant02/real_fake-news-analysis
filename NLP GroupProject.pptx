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video/mp4" Extension="mp4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</p:sldIdLst>
  <p:sldSz cx="18288000" cy="10287000"/>
  <p:notesSz cx="6858000" cy="9144000"/>
  <p:embeddedFontLst>
    <p:embeddedFont>
      <p:font typeface="DM Sans" charset="1" panose="00000000000000000000"/>
      <p:regular r:id="rId25"/>
    </p:embeddedFont>
    <p:embeddedFont>
      <p:font typeface="Poppins Bold" charset="1" panose="00000800000000000000"/>
      <p:regular r:id="rId26"/>
    </p:embeddedFont>
    <p:embeddedFont>
      <p:font typeface="DM Sans Bold" charset="1" panose="00000000000000000000"/>
      <p:regular r:id="rId27"/>
    </p:embeddedFont>
    <p:embeddedFont>
      <p:font typeface="Poppins Semi-Bold" charset="1" panose="00000700000000000000"/>
      <p:regular r:id="rId28"/>
    </p:embeddedFont>
    <p:embeddedFont>
      <p:font typeface="Poppins" charset="1" panose="00000500000000000000"/>
      <p:regular r:id="rId2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28" Target="fonts/font28.fntdata" Type="http://schemas.openxmlformats.org/officeDocument/2006/relationships/font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6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jpe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8.png" Type="http://schemas.openxmlformats.org/officeDocument/2006/relationships/image"/><Relationship Id="rId5" Target="https://nlp-project-fake-news-detection.streamlit.app" TargetMode="External" Type="http://schemas.openxmlformats.org/officeDocument/2006/relationships/hyperlink"/><Relationship Id="rId6" Target="https://github.com/Johnny386/NLP-Project" TargetMode="External" Type="http://schemas.openxmlformats.org/officeDocument/2006/relationships/hyperlink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9.jpeg" Type="http://schemas.openxmlformats.org/officeDocument/2006/relationships/image"/><Relationship Id="rId5" Target="../media/VAGkQDWnWdQ.mp4" Type="http://schemas.openxmlformats.org/officeDocument/2006/relationships/video"/><Relationship Id="rId6" Target="../media/VAGkQDWnWdQ.mp4" Type="http://schemas.microsoft.com/office/2007/relationships/media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jpeg" Type="http://schemas.openxmlformats.org/officeDocument/2006/relationships/image"/><Relationship Id="rId3" Target="../media/image1.png" Type="http://schemas.openxmlformats.org/officeDocument/2006/relationships/image"/><Relationship Id="rId4" Target="../media/image2.svg" Type="http://schemas.openxmlformats.org/officeDocument/2006/relationships/image"/><Relationship Id="rId5" Target="../media/image11.png" Type="http://schemas.openxmlformats.org/officeDocument/2006/relationships/image"/><Relationship Id="rId6" Target="../media/image12.sv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14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80BFA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62361" y="810905"/>
            <a:ext cx="600331" cy="600331"/>
          </a:xfrm>
          <a:custGeom>
            <a:avLst/>
            <a:gdLst/>
            <a:ahLst/>
            <a:cxnLst/>
            <a:rect r="r" b="b" t="t" l="l"/>
            <a:pathLst>
              <a:path h="600331" w="600331">
                <a:moveTo>
                  <a:pt x="0" y="0"/>
                </a:moveTo>
                <a:lnTo>
                  <a:pt x="600331" y="0"/>
                </a:lnTo>
                <a:lnTo>
                  <a:pt x="600331" y="600331"/>
                </a:lnTo>
                <a:lnTo>
                  <a:pt x="0" y="60033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1434286" y="0"/>
            <a:ext cx="6853714" cy="10287000"/>
          </a:xfrm>
          <a:custGeom>
            <a:avLst/>
            <a:gdLst/>
            <a:ahLst/>
            <a:cxnLst/>
            <a:rect r="r" b="b" t="t" l="l"/>
            <a:pathLst>
              <a:path h="10287000" w="6853714">
                <a:moveTo>
                  <a:pt x="0" y="0"/>
                </a:moveTo>
                <a:lnTo>
                  <a:pt x="6853714" y="0"/>
                </a:lnTo>
                <a:lnTo>
                  <a:pt x="6853714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0000"/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462692" y="8014336"/>
            <a:ext cx="5471418" cy="20821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360"/>
              </a:lnSpc>
            </a:pPr>
            <a:r>
              <a:rPr lang="en-US" sz="24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Rohan TANEJA</a:t>
            </a:r>
          </a:p>
          <a:p>
            <a:pPr algn="just">
              <a:lnSpc>
                <a:spcPts val="3360"/>
              </a:lnSpc>
            </a:pPr>
            <a:r>
              <a:rPr lang="en-US" sz="24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Johnny CHRIEM</a:t>
            </a:r>
          </a:p>
          <a:p>
            <a:pPr algn="just">
              <a:lnSpc>
                <a:spcPts val="3360"/>
              </a:lnSpc>
            </a:pPr>
            <a:r>
              <a:rPr lang="en-US" sz="24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Benjamin JACOBSEN</a:t>
            </a:r>
          </a:p>
          <a:p>
            <a:pPr algn="just">
              <a:lnSpc>
                <a:spcPts val="3360"/>
              </a:lnSpc>
            </a:pPr>
          </a:p>
          <a:p>
            <a:pPr algn="just">
              <a:lnSpc>
                <a:spcPts val="3360"/>
              </a:lnSpc>
            </a:pPr>
            <a:r>
              <a:rPr lang="en-US" sz="24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Fundamentals of NLP - 10 April 2025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462692" y="2017947"/>
            <a:ext cx="9971594" cy="45967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149"/>
              </a:lnSpc>
            </a:pPr>
            <a:r>
              <a:rPr lang="en-US" sz="8099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Detecting Fake News</a:t>
            </a:r>
          </a:p>
          <a:p>
            <a:pPr algn="l">
              <a:lnSpc>
                <a:spcPts val="12149"/>
              </a:lnSpc>
            </a:pPr>
            <a:r>
              <a:rPr lang="en-US" sz="8099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with NLP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80BFA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10800000">
            <a:off x="15375099" y="0"/>
            <a:ext cx="276056" cy="10287000"/>
            <a:chOff x="0" y="0"/>
            <a:chExt cx="72706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2706" cy="2709333"/>
            </a:xfrm>
            <a:custGeom>
              <a:avLst/>
              <a:gdLst/>
              <a:ahLst/>
              <a:cxnLst/>
              <a:rect r="r" b="b" t="t" l="l"/>
              <a:pathLst>
                <a:path h="2709333" w="72706">
                  <a:moveTo>
                    <a:pt x="0" y="0"/>
                  </a:moveTo>
                  <a:lnTo>
                    <a:pt x="72706" y="0"/>
                  </a:lnTo>
                  <a:lnTo>
                    <a:pt x="72706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5D7082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0"/>
              <a:ext cx="72706" cy="27093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2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862361" y="810905"/>
            <a:ext cx="600331" cy="600331"/>
          </a:xfrm>
          <a:custGeom>
            <a:avLst/>
            <a:gdLst/>
            <a:ahLst/>
            <a:cxnLst/>
            <a:rect r="r" b="b" t="t" l="l"/>
            <a:pathLst>
              <a:path h="600331" w="600331">
                <a:moveTo>
                  <a:pt x="0" y="0"/>
                </a:moveTo>
                <a:lnTo>
                  <a:pt x="600331" y="0"/>
                </a:lnTo>
                <a:lnTo>
                  <a:pt x="600331" y="600331"/>
                </a:lnTo>
                <a:lnTo>
                  <a:pt x="0" y="60033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462692" y="1315986"/>
            <a:ext cx="9713301" cy="1082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125"/>
              </a:lnSpc>
            </a:pPr>
            <a:r>
              <a:rPr lang="en-US" sz="6500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Presentation content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462692" y="2549937"/>
            <a:ext cx="13250946" cy="67083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827409" indent="-413704" lvl="1">
              <a:lnSpc>
                <a:spcPts val="5365"/>
              </a:lnSpc>
              <a:buFont typeface="Arial"/>
              <a:buChar char="•"/>
            </a:pPr>
            <a:r>
              <a:rPr lang="en-US" sz="3832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Project overview</a:t>
            </a:r>
          </a:p>
          <a:p>
            <a:pPr algn="just" marL="827409" indent="-413704" lvl="1">
              <a:lnSpc>
                <a:spcPts val="5365"/>
              </a:lnSpc>
              <a:buFont typeface="Arial"/>
              <a:buChar char="•"/>
            </a:pPr>
            <a:r>
              <a:rPr lang="en-US" sz="3832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Dataset</a:t>
            </a:r>
          </a:p>
          <a:p>
            <a:pPr algn="just" marL="827409" indent="-413704" lvl="1">
              <a:lnSpc>
                <a:spcPts val="5365"/>
              </a:lnSpc>
              <a:buFont typeface="Arial"/>
              <a:buChar char="•"/>
            </a:pPr>
            <a:r>
              <a:rPr lang="en-US" sz="3832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Preprocessing steps</a:t>
            </a:r>
          </a:p>
          <a:p>
            <a:pPr algn="just" marL="827409" indent="-413704" lvl="1">
              <a:lnSpc>
                <a:spcPts val="5365"/>
              </a:lnSpc>
              <a:buFont typeface="Arial"/>
              <a:buChar char="•"/>
            </a:pPr>
            <a:r>
              <a:rPr lang="en-US" sz="3832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Model approaches</a:t>
            </a:r>
          </a:p>
          <a:p>
            <a:pPr algn="just" marL="827409" indent="-413704" lvl="1">
              <a:lnSpc>
                <a:spcPts val="5365"/>
              </a:lnSpc>
              <a:buFont typeface="Arial"/>
              <a:buChar char="•"/>
            </a:pPr>
            <a:r>
              <a:rPr lang="en-US" sz="3832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Best model</a:t>
            </a:r>
          </a:p>
          <a:p>
            <a:pPr algn="just" marL="827409" indent="-413704" lvl="1">
              <a:lnSpc>
                <a:spcPts val="5365"/>
              </a:lnSpc>
              <a:buFont typeface="Arial"/>
              <a:buChar char="•"/>
            </a:pPr>
            <a:r>
              <a:rPr lang="en-US" sz="3832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Streamlit app</a:t>
            </a:r>
          </a:p>
          <a:p>
            <a:pPr algn="just" marL="827409" indent="-413704" lvl="1">
              <a:lnSpc>
                <a:spcPts val="5365"/>
              </a:lnSpc>
              <a:buFont typeface="Arial"/>
              <a:buChar char="•"/>
            </a:pPr>
            <a:r>
              <a:rPr lang="en-US" sz="3832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Video Demo of Streamlit app</a:t>
            </a:r>
          </a:p>
          <a:p>
            <a:pPr algn="just" marL="827409" indent="-413704" lvl="1">
              <a:lnSpc>
                <a:spcPts val="5365"/>
              </a:lnSpc>
              <a:buFont typeface="Arial"/>
              <a:buChar char="•"/>
            </a:pPr>
            <a:r>
              <a:rPr lang="en-US" sz="3832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Challenges &amp; Improvements</a:t>
            </a:r>
          </a:p>
          <a:p>
            <a:pPr algn="just" marL="827409" indent="-413704" lvl="1">
              <a:lnSpc>
                <a:spcPts val="5365"/>
              </a:lnSpc>
              <a:buFont typeface="Arial"/>
              <a:buChar char="•"/>
            </a:pPr>
            <a:r>
              <a:rPr lang="en-US" sz="3832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Learnings </a:t>
            </a:r>
          </a:p>
          <a:p>
            <a:pPr algn="just" marL="827409" indent="-413704" lvl="1">
              <a:lnSpc>
                <a:spcPts val="5365"/>
              </a:lnSpc>
              <a:buFont typeface="Arial"/>
              <a:buChar char="•"/>
            </a:pPr>
            <a:r>
              <a:rPr lang="en-US" sz="3832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Conclusion &amp; Recommendations 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62361" y="810905"/>
            <a:ext cx="600331" cy="600331"/>
          </a:xfrm>
          <a:custGeom>
            <a:avLst/>
            <a:gdLst/>
            <a:ahLst/>
            <a:cxnLst/>
            <a:rect r="r" b="b" t="t" l="l"/>
            <a:pathLst>
              <a:path h="600331" w="600331">
                <a:moveTo>
                  <a:pt x="0" y="0"/>
                </a:moveTo>
                <a:lnTo>
                  <a:pt x="600331" y="0"/>
                </a:lnTo>
                <a:lnTo>
                  <a:pt x="600331" y="600331"/>
                </a:lnTo>
                <a:lnTo>
                  <a:pt x="0" y="60033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-10800000">
            <a:off x="13542253" y="0"/>
            <a:ext cx="5260519" cy="10287000"/>
            <a:chOff x="0" y="0"/>
            <a:chExt cx="1385486" cy="270933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385486" cy="2709333"/>
            </a:xfrm>
            <a:custGeom>
              <a:avLst/>
              <a:gdLst/>
              <a:ahLst/>
              <a:cxnLst/>
              <a:rect r="r" b="b" t="t" l="l"/>
              <a:pathLst>
                <a:path h="2709333" w="1385486">
                  <a:moveTo>
                    <a:pt x="0" y="0"/>
                  </a:moveTo>
                  <a:lnTo>
                    <a:pt x="1385486" y="0"/>
                  </a:lnTo>
                  <a:lnTo>
                    <a:pt x="1385486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B4B49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0"/>
              <a:ext cx="1385486" cy="27093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2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1462692" y="1315986"/>
            <a:ext cx="9471486" cy="1082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125"/>
              </a:lnSpc>
            </a:pPr>
            <a:r>
              <a:rPr lang="en-US" sz="6500" b="true">
                <a:solidFill>
                  <a:srgbClr val="0B4B49"/>
                </a:solidFill>
                <a:latin typeface="Poppins Bold"/>
                <a:ea typeface="Poppins Bold"/>
                <a:cs typeface="Poppins Bold"/>
                <a:sym typeface="Poppins Bold"/>
              </a:rPr>
              <a:t>Project overview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462692" y="3189843"/>
            <a:ext cx="2482097" cy="4916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131"/>
              </a:lnSpc>
            </a:pPr>
            <a:r>
              <a:rPr lang="en-US" sz="2951" b="true">
                <a:solidFill>
                  <a:srgbClr val="0B4B49"/>
                </a:solidFill>
                <a:latin typeface="DM Sans Bold"/>
                <a:ea typeface="DM Sans Bold"/>
                <a:cs typeface="DM Sans Bold"/>
                <a:sym typeface="DM Sans Bold"/>
              </a:rPr>
              <a:t>Objective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462692" y="3929485"/>
            <a:ext cx="9716582" cy="20485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131"/>
              </a:lnSpc>
            </a:pPr>
            <a:r>
              <a:rPr lang="en-US" sz="2951">
                <a:solidFill>
                  <a:srgbClr val="0B4B49"/>
                </a:solidFill>
                <a:latin typeface="DM Sans"/>
                <a:ea typeface="DM Sans"/>
                <a:cs typeface="DM Sans"/>
                <a:sym typeface="DM Sans"/>
              </a:rPr>
              <a:t>In todays world with the huge media influence, being able to detect the real information from the fake is very important. Our goal is to build a model that predicts if an article is real or fake, based only on text.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462692" y="6678144"/>
            <a:ext cx="2928078" cy="4914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131"/>
              </a:lnSpc>
            </a:pPr>
            <a:r>
              <a:rPr lang="en-US" sz="2951" b="true">
                <a:solidFill>
                  <a:srgbClr val="0B4B49"/>
                </a:solidFill>
                <a:latin typeface="DM Sans Bold"/>
                <a:ea typeface="DM Sans Bold"/>
                <a:cs typeface="DM Sans Bold"/>
                <a:sym typeface="DM Sans Bold"/>
              </a:rPr>
              <a:t>Applications: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462692" y="7273376"/>
            <a:ext cx="9269287" cy="10106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37193" indent="-318596" lvl="1">
              <a:lnSpc>
                <a:spcPts val="4131"/>
              </a:lnSpc>
              <a:buFont typeface="Arial"/>
              <a:buChar char="•"/>
            </a:pPr>
            <a:r>
              <a:rPr lang="en-US" sz="2951">
                <a:solidFill>
                  <a:srgbClr val="0B4B49"/>
                </a:solidFill>
                <a:latin typeface="DM Sans"/>
                <a:ea typeface="DM Sans"/>
                <a:cs typeface="DM Sans"/>
                <a:sym typeface="DM Sans"/>
              </a:rPr>
              <a:t>Multiple approaches tested</a:t>
            </a:r>
          </a:p>
          <a:p>
            <a:pPr algn="just" marL="637193" indent="-318596" lvl="1">
              <a:lnSpc>
                <a:spcPts val="4131"/>
              </a:lnSpc>
              <a:buFont typeface="Arial"/>
              <a:buChar char="•"/>
            </a:pPr>
            <a:r>
              <a:rPr lang="en-US" sz="2951">
                <a:solidFill>
                  <a:srgbClr val="0B4B49"/>
                </a:solidFill>
                <a:latin typeface="DM Sans"/>
                <a:ea typeface="DM Sans"/>
                <a:cs typeface="DM Sans"/>
                <a:sym typeface="DM Sans"/>
              </a:rPr>
              <a:t>Deployed a streamlit app as our prediction tool 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-316576" y="9258300"/>
            <a:ext cx="11662927" cy="1316354"/>
            <a:chOff x="0" y="0"/>
            <a:chExt cx="3071717" cy="346694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071717" cy="346694"/>
            </a:xfrm>
            <a:custGeom>
              <a:avLst/>
              <a:gdLst/>
              <a:ahLst/>
              <a:cxnLst/>
              <a:rect r="r" b="b" t="t" l="l"/>
              <a:pathLst>
                <a:path h="346694" w="3071717">
                  <a:moveTo>
                    <a:pt x="0" y="0"/>
                  </a:moveTo>
                  <a:lnTo>
                    <a:pt x="3071717" y="0"/>
                  </a:lnTo>
                  <a:lnTo>
                    <a:pt x="3071717" y="346694"/>
                  </a:lnTo>
                  <a:lnTo>
                    <a:pt x="0" y="346694"/>
                  </a:lnTo>
                  <a:close/>
                </a:path>
              </a:pathLst>
            </a:custGeom>
            <a:solidFill>
              <a:srgbClr val="80BFAC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0"/>
              <a:ext cx="3071717" cy="34669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29"/>
                </a:lnSpc>
              </a:pP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1746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5668990" cy="10287000"/>
            <a:chOff x="0" y="0"/>
            <a:chExt cx="1493067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93067" cy="2709333"/>
            </a:xfrm>
            <a:custGeom>
              <a:avLst/>
              <a:gdLst/>
              <a:ahLst/>
              <a:cxnLst/>
              <a:rect r="r" b="b" t="t" l="l"/>
              <a:pathLst>
                <a:path h="2709333" w="1493067">
                  <a:moveTo>
                    <a:pt x="0" y="0"/>
                  </a:moveTo>
                  <a:lnTo>
                    <a:pt x="1493067" y="0"/>
                  </a:lnTo>
                  <a:lnTo>
                    <a:pt x="1493067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0"/>
              <a:ext cx="1493067" cy="27093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2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-10800000">
            <a:off x="5530962" y="0"/>
            <a:ext cx="276056" cy="10287000"/>
            <a:chOff x="0" y="0"/>
            <a:chExt cx="72706" cy="270933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72706" cy="2709333"/>
            </a:xfrm>
            <a:custGeom>
              <a:avLst/>
              <a:gdLst/>
              <a:ahLst/>
              <a:cxnLst/>
              <a:rect r="r" b="b" t="t" l="l"/>
              <a:pathLst>
                <a:path h="2709333" w="72706">
                  <a:moveTo>
                    <a:pt x="0" y="0"/>
                  </a:moveTo>
                  <a:lnTo>
                    <a:pt x="72706" y="0"/>
                  </a:lnTo>
                  <a:lnTo>
                    <a:pt x="72706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5D7082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0"/>
              <a:ext cx="72706" cy="27093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29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862361" y="810905"/>
            <a:ext cx="600331" cy="600331"/>
          </a:xfrm>
          <a:custGeom>
            <a:avLst/>
            <a:gdLst/>
            <a:ahLst/>
            <a:cxnLst/>
            <a:rect r="r" b="b" t="t" l="l"/>
            <a:pathLst>
              <a:path h="600331" w="600331">
                <a:moveTo>
                  <a:pt x="0" y="0"/>
                </a:moveTo>
                <a:lnTo>
                  <a:pt x="600331" y="0"/>
                </a:lnTo>
                <a:lnTo>
                  <a:pt x="600331" y="600331"/>
                </a:lnTo>
                <a:lnTo>
                  <a:pt x="0" y="60033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462692" y="1468386"/>
            <a:ext cx="6922997" cy="927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500"/>
              </a:lnSpc>
            </a:pPr>
            <a:r>
              <a:rPr lang="en-US" sz="6500" b="true">
                <a:solidFill>
                  <a:srgbClr val="0B4B49"/>
                </a:solidFill>
                <a:latin typeface="Poppins Bold"/>
                <a:ea typeface="Poppins Bold"/>
                <a:cs typeface="Poppins Bold"/>
                <a:sym typeface="Poppins Bold"/>
              </a:rPr>
              <a:t>Dataset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164744" y="1846211"/>
            <a:ext cx="8966521" cy="74756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707742" indent="-353871" lvl="1">
              <a:lnSpc>
                <a:spcPts val="4589"/>
              </a:lnSpc>
              <a:buFont typeface="Arial"/>
              <a:buChar char="•"/>
            </a:pPr>
            <a:r>
              <a:rPr lang="en-US" sz="327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Name: fake_real_news.csv</a:t>
            </a:r>
          </a:p>
          <a:p>
            <a:pPr algn="just">
              <a:lnSpc>
                <a:spcPts val="4589"/>
              </a:lnSpc>
            </a:pPr>
          </a:p>
          <a:p>
            <a:pPr algn="just" marL="707742" indent="-353871" lvl="1">
              <a:lnSpc>
                <a:spcPts val="4589"/>
              </a:lnSpc>
              <a:buFont typeface="Arial"/>
              <a:buChar char="•"/>
            </a:pPr>
            <a:r>
              <a:rPr lang="en-US" sz="327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268 rows</a:t>
            </a:r>
          </a:p>
          <a:p>
            <a:pPr algn="just" marL="707742" indent="-353871" lvl="1">
              <a:lnSpc>
                <a:spcPts val="4589"/>
              </a:lnSpc>
              <a:buFont typeface="Arial"/>
              <a:buChar char="•"/>
            </a:pPr>
            <a:r>
              <a:rPr lang="en-US" sz="327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4 columns</a:t>
            </a:r>
          </a:p>
          <a:p>
            <a:pPr algn="just" marL="1415484" indent="-471828" lvl="2">
              <a:lnSpc>
                <a:spcPts val="4589"/>
              </a:lnSpc>
              <a:buFont typeface="Arial"/>
              <a:buChar char="⚬"/>
            </a:pPr>
            <a:r>
              <a:rPr lang="en-US" sz="327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Title</a:t>
            </a:r>
          </a:p>
          <a:p>
            <a:pPr algn="just" marL="1415484" indent="-471828" lvl="2">
              <a:lnSpc>
                <a:spcPts val="4589"/>
              </a:lnSpc>
              <a:buFont typeface="Arial"/>
              <a:buChar char="⚬"/>
            </a:pPr>
            <a:r>
              <a:rPr lang="en-US" sz="327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Text</a:t>
            </a:r>
          </a:p>
          <a:p>
            <a:pPr algn="just" marL="1415484" indent="-471828" lvl="2">
              <a:lnSpc>
                <a:spcPts val="4589"/>
              </a:lnSpc>
              <a:buFont typeface="Arial"/>
              <a:buChar char="⚬"/>
            </a:pPr>
            <a:r>
              <a:rPr lang="en-US" sz="327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IDD</a:t>
            </a:r>
          </a:p>
          <a:p>
            <a:pPr algn="just" marL="1415484" indent="-471828" lvl="2">
              <a:lnSpc>
                <a:spcPts val="4589"/>
              </a:lnSpc>
              <a:buFont typeface="Arial"/>
              <a:buChar char="⚬"/>
            </a:pPr>
            <a:r>
              <a:rPr lang="en-US" sz="327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Label</a:t>
            </a:r>
          </a:p>
          <a:p>
            <a:pPr algn="just">
              <a:lnSpc>
                <a:spcPts val="4589"/>
              </a:lnSpc>
            </a:pPr>
          </a:p>
          <a:p>
            <a:pPr algn="just" marL="707742" indent="-353871" lvl="1">
              <a:lnSpc>
                <a:spcPts val="4589"/>
              </a:lnSpc>
              <a:buFont typeface="Arial"/>
              <a:buChar char="•"/>
            </a:pPr>
            <a:r>
              <a:rPr lang="en-US" sz="327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Cleaning</a:t>
            </a:r>
          </a:p>
          <a:p>
            <a:pPr algn="just" marL="1415484" indent="-471828" lvl="2">
              <a:lnSpc>
                <a:spcPts val="4589"/>
              </a:lnSpc>
              <a:buFont typeface="Arial"/>
              <a:buChar char="⚬"/>
            </a:pPr>
            <a:r>
              <a:rPr lang="en-US" sz="327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Removing non-english</a:t>
            </a:r>
          </a:p>
          <a:p>
            <a:pPr algn="just" marL="1415484" indent="-471828" lvl="2">
              <a:lnSpc>
                <a:spcPts val="4589"/>
              </a:lnSpc>
              <a:buFont typeface="Arial"/>
              <a:buChar char="⚬"/>
            </a:pPr>
            <a:r>
              <a:rPr lang="en-US" sz="327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Combining Title &amp; text into one full</a:t>
            </a:r>
          </a:p>
          <a:p>
            <a:pPr algn="just" marL="1415484" indent="-471828" lvl="2">
              <a:lnSpc>
                <a:spcPts val="4589"/>
              </a:lnSpc>
              <a:buFont typeface="Arial"/>
              <a:buChar char="⚬"/>
            </a:pPr>
            <a:r>
              <a:rPr lang="en-US" sz="327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Removing Title, Text &amp; IDD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1746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62361" y="810905"/>
            <a:ext cx="600331" cy="600331"/>
          </a:xfrm>
          <a:custGeom>
            <a:avLst/>
            <a:gdLst/>
            <a:ahLst/>
            <a:cxnLst/>
            <a:rect r="r" b="b" t="t" l="l"/>
            <a:pathLst>
              <a:path h="600331" w="600331">
                <a:moveTo>
                  <a:pt x="0" y="0"/>
                </a:moveTo>
                <a:lnTo>
                  <a:pt x="600331" y="0"/>
                </a:lnTo>
                <a:lnTo>
                  <a:pt x="600331" y="600331"/>
                </a:lnTo>
                <a:lnTo>
                  <a:pt x="0" y="60033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462692" y="1220736"/>
            <a:ext cx="12101018" cy="1177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100"/>
              </a:lnSpc>
            </a:pPr>
            <a:r>
              <a:rPr lang="en-US" sz="6500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Preprocessing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462692" y="3483526"/>
            <a:ext cx="12401184" cy="60270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729056" indent="-364528" lvl="1">
              <a:lnSpc>
                <a:spcPts val="6112"/>
              </a:lnSpc>
              <a:buFont typeface="Arial"/>
              <a:buChar char="•"/>
            </a:pPr>
            <a:r>
              <a:rPr lang="en-US" b="true" sz="3376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Tokenization</a:t>
            </a:r>
          </a:p>
          <a:p>
            <a:pPr algn="just" marL="729056" indent="-364528" lvl="1">
              <a:lnSpc>
                <a:spcPts val="6112"/>
              </a:lnSpc>
              <a:buFont typeface="Arial"/>
              <a:buChar char="•"/>
            </a:pPr>
            <a:r>
              <a:rPr lang="en-US" b="true" sz="3376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Remove stopwords</a:t>
            </a:r>
          </a:p>
          <a:p>
            <a:pPr algn="just" marL="729056" indent="-364528" lvl="1">
              <a:lnSpc>
                <a:spcPts val="6112"/>
              </a:lnSpc>
              <a:buFont typeface="Arial"/>
              <a:buChar char="•"/>
            </a:pPr>
            <a:r>
              <a:rPr lang="en-US" b="true" sz="3376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Remove characters except letters and whitespace</a:t>
            </a:r>
          </a:p>
          <a:p>
            <a:pPr algn="just" marL="729056" indent="-364528" lvl="1">
              <a:lnSpc>
                <a:spcPts val="6112"/>
              </a:lnSpc>
              <a:buFont typeface="Arial"/>
              <a:buChar char="•"/>
            </a:pPr>
            <a:r>
              <a:rPr lang="en-US" b="true" sz="3376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Stripping leading or trailing whitespaces</a:t>
            </a:r>
          </a:p>
          <a:p>
            <a:pPr algn="just" marL="729056" indent="-364528" lvl="1">
              <a:lnSpc>
                <a:spcPts val="6112"/>
              </a:lnSpc>
              <a:buFont typeface="Arial"/>
              <a:buChar char="•"/>
            </a:pPr>
            <a:r>
              <a:rPr lang="en-US" b="true" sz="3376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Lemmatization</a:t>
            </a:r>
          </a:p>
          <a:p>
            <a:pPr algn="just" marL="729056" indent="-364528" lvl="1">
              <a:lnSpc>
                <a:spcPts val="6112"/>
              </a:lnSpc>
              <a:buFont typeface="Arial"/>
              <a:buChar char="•"/>
            </a:pPr>
            <a:r>
              <a:rPr lang="en-US" b="true" sz="3376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Convert all words to lowercase</a:t>
            </a:r>
          </a:p>
          <a:p>
            <a:pPr algn="just" marL="729056" indent="-364528" lvl="1">
              <a:lnSpc>
                <a:spcPts val="6112"/>
              </a:lnSpc>
              <a:buFont typeface="Arial"/>
              <a:buChar char="•"/>
            </a:pPr>
            <a:r>
              <a:rPr lang="en-US" b="true" sz="3376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Remove punctuation</a:t>
            </a:r>
          </a:p>
          <a:p>
            <a:pPr algn="just">
              <a:lnSpc>
                <a:spcPts val="4727"/>
              </a:lnSpc>
            </a:pPr>
          </a:p>
        </p:txBody>
      </p:sp>
      <p:grpSp>
        <p:nvGrpSpPr>
          <p:cNvPr name="Group 5" id="5"/>
          <p:cNvGrpSpPr/>
          <p:nvPr/>
        </p:nvGrpSpPr>
        <p:grpSpPr>
          <a:xfrm rot="0">
            <a:off x="14898344" y="-2274695"/>
            <a:ext cx="4721913" cy="5431154"/>
            <a:chOff x="0" y="0"/>
            <a:chExt cx="1243631" cy="143042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243631" cy="1430427"/>
            </a:xfrm>
            <a:custGeom>
              <a:avLst/>
              <a:gdLst/>
              <a:ahLst/>
              <a:cxnLst/>
              <a:rect r="r" b="b" t="t" l="l"/>
              <a:pathLst>
                <a:path h="1430427" w="1243631">
                  <a:moveTo>
                    <a:pt x="0" y="0"/>
                  </a:moveTo>
                  <a:lnTo>
                    <a:pt x="1243631" y="0"/>
                  </a:lnTo>
                  <a:lnTo>
                    <a:pt x="1243631" y="1430427"/>
                  </a:lnTo>
                  <a:lnTo>
                    <a:pt x="0" y="1430427"/>
                  </a:lnTo>
                  <a:close/>
                </a:path>
              </a:pathLst>
            </a:custGeom>
            <a:solidFill>
              <a:srgbClr val="80BFAC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0"/>
              <a:ext cx="1243631" cy="14304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29"/>
                </a:lnSpc>
              </a:pP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80BFA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62361" y="810905"/>
            <a:ext cx="600331" cy="600331"/>
          </a:xfrm>
          <a:custGeom>
            <a:avLst/>
            <a:gdLst/>
            <a:ahLst/>
            <a:cxnLst/>
            <a:rect r="r" b="b" t="t" l="l"/>
            <a:pathLst>
              <a:path h="600331" w="600331">
                <a:moveTo>
                  <a:pt x="0" y="0"/>
                </a:moveTo>
                <a:lnTo>
                  <a:pt x="600331" y="0"/>
                </a:lnTo>
                <a:lnTo>
                  <a:pt x="600331" y="600331"/>
                </a:lnTo>
                <a:lnTo>
                  <a:pt x="0" y="60033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-10800000">
            <a:off x="11948164" y="0"/>
            <a:ext cx="489605" cy="10287000"/>
            <a:chOff x="0" y="0"/>
            <a:chExt cx="128949" cy="270933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28949" cy="2709333"/>
            </a:xfrm>
            <a:custGeom>
              <a:avLst/>
              <a:gdLst/>
              <a:ahLst/>
              <a:cxnLst/>
              <a:rect r="r" b="b" t="t" l="l"/>
              <a:pathLst>
                <a:path h="2709333" w="128949">
                  <a:moveTo>
                    <a:pt x="0" y="0"/>
                  </a:moveTo>
                  <a:lnTo>
                    <a:pt x="128949" y="0"/>
                  </a:lnTo>
                  <a:lnTo>
                    <a:pt x="128949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5D7082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0"/>
              <a:ext cx="128949" cy="27093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2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2437768" y="0"/>
            <a:ext cx="5850232" cy="7702357"/>
            <a:chOff x="0" y="0"/>
            <a:chExt cx="1540802" cy="202860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540802" cy="2028604"/>
            </a:xfrm>
            <a:custGeom>
              <a:avLst/>
              <a:gdLst/>
              <a:ahLst/>
              <a:cxnLst/>
              <a:rect r="r" b="b" t="t" l="l"/>
              <a:pathLst>
                <a:path h="2028604" w="1540802">
                  <a:moveTo>
                    <a:pt x="0" y="0"/>
                  </a:moveTo>
                  <a:lnTo>
                    <a:pt x="1540802" y="0"/>
                  </a:lnTo>
                  <a:lnTo>
                    <a:pt x="1540802" y="2028604"/>
                  </a:lnTo>
                  <a:lnTo>
                    <a:pt x="0" y="2028604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0"/>
              <a:ext cx="1540802" cy="202860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29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462692" y="1315986"/>
            <a:ext cx="8997049" cy="1082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125"/>
              </a:lnSpc>
            </a:pPr>
            <a:r>
              <a:rPr lang="en-US" sz="6500" b="true">
                <a:solidFill>
                  <a:srgbClr val="0B4B49"/>
                </a:solidFill>
                <a:latin typeface="Poppins Bold"/>
                <a:ea typeface="Poppins Bold"/>
                <a:cs typeface="Poppins Bold"/>
                <a:sym typeface="Poppins Bold"/>
              </a:rPr>
              <a:t>Approaches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671865" y="3945405"/>
            <a:ext cx="8787876" cy="4908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863599" indent="-431800" lvl="1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0B4B49"/>
                </a:solidFill>
                <a:latin typeface="DM Sans"/>
                <a:ea typeface="DM Sans"/>
                <a:cs typeface="DM Sans"/>
                <a:sym typeface="DM Sans"/>
              </a:rPr>
              <a:t>BOW</a:t>
            </a:r>
          </a:p>
          <a:p>
            <a:pPr algn="just">
              <a:lnSpc>
                <a:spcPts val="5599"/>
              </a:lnSpc>
            </a:pPr>
          </a:p>
          <a:p>
            <a:pPr algn="just" marL="863599" indent="-431800" lvl="1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0B4B49"/>
                </a:solidFill>
                <a:latin typeface="DM Sans"/>
                <a:ea typeface="DM Sans"/>
                <a:cs typeface="DM Sans"/>
                <a:sym typeface="DM Sans"/>
              </a:rPr>
              <a:t>LSTM</a:t>
            </a:r>
          </a:p>
          <a:p>
            <a:pPr algn="just">
              <a:lnSpc>
                <a:spcPts val="5599"/>
              </a:lnSpc>
            </a:pPr>
          </a:p>
          <a:p>
            <a:pPr algn="just" marL="863599" indent="-431800" lvl="1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0B4B49"/>
                </a:solidFill>
                <a:latin typeface="DM Sans"/>
                <a:ea typeface="DM Sans"/>
                <a:cs typeface="DM Sans"/>
                <a:sym typeface="DM Sans"/>
              </a:rPr>
              <a:t>GLOVE</a:t>
            </a:r>
          </a:p>
          <a:p>
            <a:pPr algn="just">
              <a:lnSpc>
                <a:spcPts val="5599"/>
              </a:lnSpc>
            </a:pPr>
          </a:p>
          <a:p>
            <a:pPr algn="just" marL="863599" indent="-431800" lvl="1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0B4B49"/>
                </a:solidFill>
                <a:latin typeface="DM Sans"/>
                <a:ea typeface="DM Sans"/>
                <a:cs typeface="DM Sans"/>
                <a:sym typeface="DM Sans"/>
              </a:rPr>
              <a:t>TRANSFER LEARNING - BERT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80BFA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62361" y="810905"/>
            <a:ext cx="600331" cy="600331"/>
          </a:xfrm>
          <a:custGeom>
            <a:avLst/>
            <a:gdLst/>
            <a:ahLst/>
            <a:cxnLst/>
            <a:rect r="r" b="b" t="t" l="l"/>
            <a:pathLst>
              <a:path h="600331" w="600331">
                <a:moveTo>
                  <a:pt x="0" y="0"/>
                </a:moveTo>
                <a:lnTo>
                  <a:pt x="600331" y="0"/>
                </a:lnTo>
                <a:lnTo>
                  <a:pt x="600331" y="600331"/>
                </a:lnTo>
                <a:lnTo>
                  <a:pt x="0" y="60033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-10800000">
            <a:off x="11948164" y="0"/>
            <a:ext cx="489605" cy="10287000"/>
            <a:chOff x="0" y="0"/>
            <a:chExt cx="128949" cy="270933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28949" cy="2709333"/>
            </a:xfrm>
            <a:custGeom>
              <a:avLst/>
              <a:gdLst/>
              <a:ahLst/>
              <a:cxnLst/>
              <a:rect r="r" b="b" t="t" l="l"/>
              <a:pathLst>
                <a:path h="2709333" w="128949">
                  <a:moveTo>
                    <a:pt x="0" y="0"/>
                  </a:moveTo>
                  <a:lnTo>
                    <a:pt x="128949" y="0"/>
                  </a:lnTo>
                  <a:lnTo>
                    <a:pt x="128949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5D7082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0"/>
              <a:ext cx="128949" cy="27093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2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2437768" y="0"/>
            <a:ext cx="5850232" cy="7702357"/>
            <a:chOff x="0" y="0"/>
            <a:chExt cx="1540802" cy="202860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540802" cy="2028604"/>
            </a:xfrm>
            <a:custGeom>
              <a:avLst/>
              <a:gdLst/>
              <a:ahLst/>
              <a:cxnLst/>
              <a:rect r="r" b="b" t="t" l="l"/>
              <a:pathLst>
                <a:path h="2028604" w="1540802">
                  <a:moveTo>
                    <a:pt x="0" y="0"/>
                  </a:moveTo>
                  <a:lnTo>
                    <a:pt x="1540802" y="0"/>
                  </a:lnTo>
                  <a:lnTo>
                    <a:pt x="1540802" y="2028604"/>
                  </a:lnTo>
                  <a:lnTo>
                    <a:pt x="0" y="2028604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9525"/>
              <a:ext cx="1540802" cy="20190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4279"/>
                </a:lnSpc>
              </a:pPr>
              <a:r>
                <a:rPr lang="en-US" sz="3999" b="true">
                  <a:solidFill>
                    <a:srgbClr val="000000"/>
                  </a:solidFill>
                  <a:latin typeface="Poppins Semi-Bold"/>
                  <a:ea typeface="Poppins Semi-Bold"/>
                  <a:cs typeface="Poppins Semi-Bold"/>
                  <a:sym typeface="Poppins Semi-Bold"/>
                </a:rPr>
                <a:t>Build</a:t>
              </a:r>
            </a:p>
            <a:p>
              <a:pPr algn="l">
                <a:lnSpc>
                  <a:spcPts val="3050"/>
                </a:lnSpc>
              </a:pPr>
            </a:p>
            <a:p>
              <a:pPr algn="l" marL="615576" indent="-307788" lvl="1">
                <a:lnSpc>
                  <a:spcPts val="3050"/>
                </a:lnSpc>
                <a:buFont typeface="Arial"/>
                <a:buChar char="•"/>
              </a:pPr>
              <a:r>
                <a:rPr lang="en-US" b="true" sz="2851">
                  <a:solidFill>
                    <a:srgbClr val="000000"/>
                  </a:solidFill>
                  <a:latin typeface="Poppins Semi-Bold"/>
                  <a:ea typeface="Poppins Semi-Bold"/>
                  <a:cs typeface="Poppins Semi-Bold"/>
                  <a:sym typeface="Poppins Semi-Bold"/>
                </a:rPr>
                <a:t>Grid Search</a:t>
              </a:r>
            </a:p>
            <a:p>
              <a:pPr algn="l" marL="615576" indent="-307788" lvl="1">
                <a:lnSpc>
                  <a:spcPts val="3050"/>
                </a:lnSpc>
                <a:buFont typeface="Arial"/>
                <a:buChar char="•"/>
              </a:pPr>
              <a:r>
                <a:rPr lang="en-US" b="true" sz="2851">
                  <a:solidFill>
                    <a:srgbClr val="000000"/>
                  </a:solidFill>
                  <a:latin typeface="Poppins Semi-Bold"/>
                  <a:ea typeface="Poppins Semi-Bold"/>
                  <a:cs typeface="Poppins Semi-Bold"/>
                  <a:sym typeface="Poppins Semi-Bold"/>
                </a:rPr>
                <a:t>Cross validation - Five fold</a:t>
              </a:r>
            </a:p>
            <a:p>
              <a:pPr algn="l" marL="615576" indent="-307788" lvl="1">
                <a:lnSpc>
                  <a:spcPts val="3050"/>
                </a:lnSpc>
                <a:buFont typeface="Arial"/>
                <a:buChar char="•"/>
              </a:pPr>
              <a:r>
                <a:rPr lang="en-US" b="true" sz="2851">
                  <a:solidFill>
                    <a:srgbClr val="000000"/>
                  </a:solidFill>
                  <a:latin typeface="Poppins Semi-Bold"/>
                  <a:ea typeface="Poppins Semi-Bold"/>
                  <a:cs typeface="Poppins Semi-Bold"/>
                  <a:sym typeface="Poppins Semi-Bold"/>
                </a:rPr>
                <a:t>Hyperparameter tuning</a:t>
              </a:r>
            </a:p>
          </p:txBody>
        </p:sp>
      </p:grpSp>
      <p:graphicFrame>
        <p:nvGraphicFramePr>
          <p:cNvPr name="Table 9" id="9"/>
          <p:cNvGraphicFramePr>
            <a:graphicFrameLocks noGrp="true"/>
          </p:cNvGraphicFramePr>
          <p:nvPr/>
        </p:nvGraphicFramePr>
        <p:xfrm>
          <a:off x="141680" y="2804062"/>
          <a:ext cx="11639074" cy="7018248"/>
        </p:xfrm>
        <a:graphic>
          <a:graphicData uri="http://schemas.openxmlformats.org/drawingml/2006/table">
            <a:tbl>
              <a:tblPr/>
              <a:tblGrid>
                <a:gridCol w="3879691"/>
                <a:gridCol w="3879691"/>
                <a:gridCol w="3879691"/>
              </a:tblGrid>
              <a:tr h="174564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479"/>
                        </a:lnSpc>
                        <a:defRPr/>
                      </a:pPr>
                      <a:r>
                        <a:rPr lang="en-US" sz="3199" b="true">
                          <a:solidFill>
                            <a:srgbClr val="000000"/>
                          </a:solidFill>
                          <a:latin typeface="Poppins Bold"/>
                          <a:ea typeface="Poppins Bold"/>
                          <a:cs typeface="Poppins Bold"/>
                          <a:sym typeface="Poppins Bold"/>
                        </a:rPr>
                        <a:t>Models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479"/>
                        </a:lnSpc>
                        <a:defRPr/>
                      </a:pPr>
                      <a:r>
                        <a:rPr lang="en-US" sz="3199" b="true">
                          <a:solidFill>
                            <a:srgbClr val="000000"/>
                          </a:solidFill>
                          <a:latin typeface="Poppins Bold"/>
                          <a:ea typeface="Poppins Bold"/>
                          <a:cs typeface="Poppins Bold"/>
                          <a:sym typeface="Poppins Bold"/>
                        </a:rPr>
                        <a:t>Test Accuracy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479"/>
                        </a:lnSpc>
                        <a:defRPr/>
                      </a:pPr>
                      <a:r>
                        <a:rPr lang="en-US" sz="3199" b="true">
                          <a:solidFill>
                            <a:srgbClr val="000000"/>
                          </a:solidFill>
                          <a:latin typeface="Poppins Bold"/>
                          <a:ea typeface="Poppins Bold"/>
                          <a:cs typeface="Poppins Bold"/>
                          <a:sym typeface="Poppins Bold"/>
                        </a:rPr>
                        <a:t>Test AUC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78132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479"/>
                        </a:lnSpc>
                        <a:defRPr/>
                      </a:pPr>
                      <a:r>
                        <a:rPr lang="en-US" sz="3199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Logistic Regression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479"/>
                        </a:lnSpc>
                        <a:defRPr/>
                      </a:pPr>
                      <a:r>
                        <a:rPr lang="en-US" sz="3199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0.93798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479"/>
                        </a:lnSpc>
                        <a:defRPr/>
                      </a:pPr>
                      <a:r>
                        <a:rPr lang="en-US" sz="3199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0.93796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74564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479"/>
                        </a:lnSpc>
                        <a:defRPr/>
                      </a:pPr>
                      <a:r>
                        <a:rPr lang="en-US" sz="3199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SVM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479"/>
                        </a:lnSpc>
                        <a:defRPr/>
                      </a:pPr>
                      <a:r>
                        <a:rPr lang="en-US" sz="3199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0.94015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759"/>
                        </a:lnSpc>
                        <a:defRPr/>
                      </a:pPr>
                      <a:r>
                        <a:rPr lang="en-US" sz="3399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0.94014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74564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479"/>
                        </a:lnSpc>
                        <a:defRPr/>
                      </a:pPr>
                      <a:r>
                        <a:rPr lang="en-US" sz="3199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Naive Bayes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479"/>
                        </a:lnSpc>
                        <a:defRPr/>
                      </a:pPr>
                      <a:r>
                        <a:rPr lang="en-US" sz="3199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0.91294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479"/>
                        </a:lnSpc>
                        <a:defRPr/>
                      </a:pPr>
                      <a:r>
                        <a:rPr lang="en-US" sz="3199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0.91294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10" id="10"/>
          <p:cNvSpPr txBox="true"/>
          <p:nvPr/>
        </p:nvSpPr>
        <p:spPr>
          <a:xfrm rot="0">
            <a:off x="1462692" y="1315986"/>
            <a:ext cx="8997049" cy="1082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125"/>
              </a:lnSpc>
            </a:pPr>
            <a:r>
              <a:rPr lang="en-US" sz="6500" b="true">
                <a:solidFill>
                  <a:srgbClr val="0B4B49"/>
                </a:solidFill>
                <a:latin typeface="Poppins Bold"/>
                <a:ea typeface="Poppins Bold"/>
                <a:cs typeface="Poppins Bold"/>
                <a:sym typeface="Poppins Bold"/>
              </a:rPr>
              <a:t>BOW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80BFA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62361" y="810905"/>
            <a:ext cx="600331" cy="600331"/>
          </a:xfrm>
          <a:custGeom>
            <a:avLst/>
            <a:gdLst/>
            <a:ahLst/>
            <a:cxnLst/>
            <a:rect r="r" b="b" t="t" l="l"/>
            <a:pathLst>
              <a:path h="600331" w="600331">
                <a:moveTo>
                  <a:pt x="0" y="0"/>
                </a:moveTo>
                <a:lnTo>
                  <a:pt x="600331" y="0"/>
                </a:lnTo>
                <a:lnTo>
                  <a:pt x="600331" y="600331"/>
                </a:lnTo>
                <a:lnTo>
                  <a:pt x="0" y="60033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179833" y="3998742"/>
            <a:ext cx="7477552" cy="5708552"/>
          </a:xfrm>
          <a:custGeom>
            <a:avLst/>
            <a:gdLst/>
            <a:ahLst/>
            <a:cxnLst/>
            <a:rect r="r" b="b" t="t" l="l"/>
            <a:pathLst>
              <a:path h="5708552" w="7477552">
                <a:moveTo>
                  <a:pt x="0" y="0"/>
                </a:moveTo>
                <a:lnTo>
                  <a:pt x="7477552" y="0"/>
                </a:lnTo>
                <a:lnTo>
                  <a:pt x="7477552" y="5708552"/>
                </a:lnTo>
                <a:lnTo>
                  <a:pt x="0" y="570855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462692" y="1315986"/>
            <a:ext cx="8997049" cy="1082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125"/>
              </a:lnSpc>
            </a:pPr>
            <a:r>
              <a:rPr lang="en-US" sz="6500" b="true">
                <a:solidFill>
                  <a:srgbClr val="0B4B49"/>
                </a:solidFill>
                <a:latin typeface="Poppins Bold"/>
                <a:ea typeface="Poppins Bold"/>
                <a:cs typeface="Poppins Bold"/>
                <a:sym typeface="Poppins Bold"/>
              </a:rPr>
              <a:t>LSTM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2701510"/>
            <a:ext cx="8541911" cy="5207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755652" indent="-377826" lvl="1">
              <a:lnSpc>
                <a:spcPts val="4900"/>
              </a:lnSpc>
              <a:buFont typeface="Arial"/>
              <a:buChar char="•"/>
            </a:pPr>
            <a:r>
              <a:rPr lang="en-US" b="true" sz="3500">
                <a:solidFill>
                  <a:srgbClr val="0B4B49"/>
                </a:solidFill>
                <a:latin typeface="DM Sans Bold"/>
                <a:ea typeface="DM Sans Bold"/>
                <a:cs typeface="DM Sans Bold"/>
                <a:sym typeface="DM Sans Bold"/>
              </a:rPr>
              <a:t>Build</a:t>
            </a:r>
          </a:p>
          <a:p>
            <a:pPr algn="just" marL="863601" indent="-287867" lvl="2">
              <a:lnSpc>
                <a:spcPts val="2800"/>
              </a:lnSpc>
              <a:buFont typeface="Arial"/>
              <a:buChar char="⚬"/>
            </a:pPr>
            <a:r>
              <a:rPr lang="en-US" sz="2000">
                <a:solidFill>
                  <a:srgbClr val="0B4B49"/>
                </a:solidFill>
                <a:latin typeface="DM Sans"/>
                <a:ea typeface="DM Sans"/>
                <a:cs typeface="DM Sans"/>
                <a:sym typeface="DM Sans"/>
              </a:rPr>
              <a:t>Used up to 10.000 most frequent words </a:t>
            </a:r>
          </a:p>
          <a:p>
            <a:pPr algn="just">
              <a:lnSpc>
                <a:spcPts val="2800"/>
              </a:lnSpc>
            </a:pPr>
          </a:p>
          <a:p>
            <a:pPr algn="just" marL="863601" indent="-287867" lvl="2">
              <a:lnSpc>
                <a:spcPts val="2800"/>
              </a:lnSpc>
              <a:buFont typeface="Arial"/>
              <a:buChar char="⚬"/>
            </a:pPr>
            <a:r>
              <a:rPr lang="en-US" sz="2000">
                <a:solidFill>
                  <a:srgbClr val="0B4B49"/>
                </a:solidFill>
                <a:latin typeface="DM Sans"/>
                <a:ea typeface="DM Sans"/>
                <a:cs typeface="DM Sans"/>
                <a:sym typeface="DM Sans"/>
              </a:rPr>
              <a:t>Padded sequences to 200 per article</a:t>
            </a:r>
          </a:p>
          <a:p>
            <a:pPr algn="just">
              <a:lnSpc>
                <a:spcPts val="2800"/>
              </a:lnSpc>
            </a:pPr>
            <a:r>
              <a:rPr lang="en-US" sz="2000">
                <a:solidFill>
                  <a:srgbClr val="0B4B49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</a:p>
          <a:p>
            <a:pPr algn="just" marL="863601" indent="-287867" lvl="2">
              <a:lnSpc>
                <a:spcPts val="2800"/>
              </a:lnSpc>
              <a:buFont typeface="Arial"/>
              <a:buChar char="⚬"/>
            </a:pPr>
            <a:r>
              <a:rPr lang="en-US" sz="2000">
                <a:solidFill>
                  <a:srgbClr val="0B4B49"/>
                </a:solidFill>
                <a:latin typeface="DM Sans"/>
                <a:ea typeface="DM Sans"/>
                <a:cs typeface="DM Sans"/>
                <a:sym typeface="DM Sans"/>
              </a:rPr>
              <a:t>Embedding layer (128 dimensions)</a:t>
            </a:r>
          </a:p>
          <a:p>
            <a:pPr algn="just">
              <a:lnSpc>
                <a:spcPts val="2800"/>
              </a:lnSpc>
            </a:pPr>
          </a:p>
          <a:p>
            <a:pPr algn="just" marL="863601" indent="-287867" lvl="2">
              <a:lnSpc>
                <a:spcPts val="2800"/>
              </a:lnSpc>
              <a:buFont typeface="Arial"/>
              <a:buChar char="⚬"/>
            </a:pPr>
            <a:r>
              <a:rPr lang="en-US" sz="2000">
                <a:solidFill>
                  <a:srgbClr val="0B4B49"/>
                </a:solidFill>
                <a:latin typeface="DM Sans"/>
                <a:ea typeface="DM Sans"/>
                <a:cs typeface="DM Sans"/>
                <a:sym typeface="DM Sans"/>
              </a:rPr>
              <a:t>2 stacked LSTM layers (64 &amp; 32 units)</a:t>
            </a:r>
          </a:p>
          <a:p>
            <a:pPr algn="just">
              <a:lnSpc>
                <a:spcPts val="2800"/>
              </a:lnSpc>
            </a:pPr>
          </a:p>
          <a:p>
            <a:pPr algn="just" marL="863601" indent="-287867" lvl="2">
              <a:lnSpc>
                <a:spcPts val="2800"/>
              </a:lnSpc>
              <a:buFont typeface="Arial"/>
              <a:buChar char="⚬"/>
            </a:pPr>
            <a:r>
              <a:rPr lang="en-US" sz="2000">
                <a:solidFill>
                  <a:srgbClr val="0B4B49"/>
                </a:solidFill>
                <a:latin typeface="DM Sans"/>
                <a:ea typeface="DM Sans"/>
                <a:cs typeface="DM Sans"/>
                <a:sym typeface="DM Sans"/>
              </a:rPr>
              <a:t>2 Dropout layers (to reduce overfitting)</a:t>
            </a:r>
          </a:p>
          <a:p>
            <a:pPr algn="just">
              <a:lnSpc>
                <a:spcPts val="2800"/>
              </a:lnSpc>
            </a:pPr>
          </a:p>
          <a:p>
            <a:pPr algn="just" marL="863601" indent="-287867" lvl="2">
              <a:lnSpc>
                <a:spcPts val="2800"/>
              </a:lnSpc>
              <a:buFont typeface="Arial"/>
              <a:buChar char="⚬"/>
            </a:pPr>
            <a:r>
              <a:rPr lang="en-US" sz="2000">
                <a:solidFill>
                  <a:srgbClr val="0B4B49"/>
                </a:solidFill>
                <a:latin typeface="DM Sans"/>
                <a:ea typeface="DM Sans"/>
                <a:cs typeface="DM Sans"/>
                <a:sym typeface="DM Sans"/>
              </a:rPr>
              <a:t>Dense layers for binary classification (with sigmoid output)</a:t>
            </a:r>
          </a:p>
          <a:p>
            <a:pPr algn="just">
              <a:lnSpc>
                <a:spcPts val="2800"/>
              </a:lnSpc>
            </a:pPr>
          </a:p>
          <a:p>
            <a:pPr algn="just" marL="863601" indent="-287867" lvl="2">
              <a:lnSpc>
                <a:spcPts val="2800"/>
              </a:lnSpc>
              <a:buFont typeface="Arial"/>
              <a:buChar char="⚬"/>
            </a:pPr>
            <a:r>
              <a:rPr lang="en-US" sz="2000">
                <a:solidFill>
                  <a:srgbClr val="0B4B49"/>
                </a:solidFill>
                <a:latin typeface="DM Sans"/>
                <a:ea typeface="DM Sans"/>
                <a:cs typeface="DM Sans"/>
                <a:sym typeface="DM Sans"/>
              </a:rPr>
              <a:t>Early stopping, model checkpointing and learning rate reduction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875222" y="1611142"/>
            <a:ext cx="7782163" cy="2387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755652" indent="-377826" lvl="1">
              <a:lnSpc>
                <a:spcPts val="4900"/>
              </a:lnSpc>
              <a:buFont typeface="Arial"/>
              <a:buChar char="•"/>
            </a:pPr>
            <a:r>
              <a:rPr lang="en-US" b="true" sz="3500">
                <a:solidFill>
                  <a:srgbClr val="0B4B49"/>
                </a:solidFill>
                <a:latin typeface="DM Sans Bold"/>
                <a:ea typeface="DM Sans Bold"/>
                <a:cs typeface="DM Sans Bold"/>
                <a:sym typeface="DM Sans Bold"/>
              </a:rPr>
              <a:t>Performance results</a:t>
            </a:r>
          </a:p>
          <a:p>
            <a:pPr algn="just" marL="863601" indent="-287867" lvl="2">
              <a:lnSpc>
                <a:spcPts val="2800"/>
              </a:lnSpc>
              <a:buFont typeface="Arial"/>
              <a:buChar char="⚬"/>
            </a:pPr>
            <a:r>
              <a:rPr lang="en-US" sz="2000">
                <a:solidFill>
                  <a:srgbClr val="0B4B49"/>
                </a:solidFill>
                <a:latin typeface="DM Sans"/>
                <a:ea typeface="DM Sans"/>
                <a:cs typeface="DM Sans"/>
                <a:sym typeface="DM Sans"/>
              </a:rPr>
              <a:t>88.25% Test accuracy</a:t>
            </a:r>
          </a:p>
          <a:p>
            <a:pPr algn="just" marL="863601" indent="-287867" lvl="2">
              <a:lnSpc>
                <a:spcPts val="2800"/>
              </a:lnSpc>
              <a:buFont typeface="Arial"/>
              <a:buChar char="⚬"/>
            </a:pPr>
            <a:r>
              <a:rPr lang="en-US" sz="2000">
                <a:solidFill>
                  <a:srgbClr val="0B4B49"/>
                </a:solidFill>
                <a:latin typeface="DM Sans"/>
                <a:ea typeface="DM Sans"/>
                <a:cs typeface="DM Sans"/>
                <a:sym typeface="DM Sans"/>
              </a:rPr>
              <a:t>Validation Accuracy: 89.32% after 4 epochs</a:t>
            </a:r>
          </a:p>
          <a:p>
            <a:pPr algn="just" marL="863601" indent="-287867" lvl="2">
              <a:lnSpc>
                <a:spcPts val="2800"/>
              </a:lnSpc>
              <a:buFont typeface="Arial"/>
              <a:buChar char="⚬"/>
            </a:pPr>
            <a:r>
              <a:rPr lang="en-US" sz="2000">
                <a:solidFill>
                  <a:srgbClr val="0B4B49"/>
                </a:solidFill>
                <a:latin typeface="DM Sans"/>
                <a:ea typeface="DM Sans"/>
                <a:cs typeface="DM Sans"/>
                <a:sym typeface="DM Sans"/>
              </a:rPr>
              <a:t>Loss decreased significantly over epochs, showing effective learning</a:t>
            </a:r>
          </a:p>
          <a:p>
            <a:pPr algn="just">
              <a:lnSpc>
                <a:spcPts val="2800"/>
              </a:lnSpc>
            </a:pP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80BFA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62361" y="810905"/>
            <a:ext cx="600331" cy="600331"/>
          </a:xfrm>
          <a:custGeom>
            <a:avLst/>
            <a:gdLst/>
            <a:ahLst/>
            <a:cxnLst/>
            <a:rect r="r" b="b" t="t" l="l"/>
            <a:pathLst>
              <a:path h="600331" w="600331">
                <a:moveTo>
                  <a:pt x="0" y="0"/>
                </a:moveTo>
                <a:lnTo>
                  <a:pt x="600331" y="0"/>
                </a:lnTo>
                <a:lnTo>
                  <a:pt x="600331" y="600331"/>
                </a:lnTo>
                <a:lnTo>
                  <a:pt x="0" y="60033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-10800000">
            <a:off x="11948164" y="0"/>
            <a:ext cx="489605" cy="10287000"/>
            <a:chOff x="0" y="0"/>
            <a:chExt cx="128949" cy="270933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28949" cy="2709333"/>
            </a:xfrm>
            <a:custGeom>
              <a:avLst/>
              <a:gdLst/>
              <a:ahLst/>
              <a:cxnLst/>
              <a:rect r="r" b="b" t="t" l="l"/>
              <a:pathLst>
                <a:path h="2709333" w="128949">
                  <a:moveTo>
                    <a:pt x="0" y="0"/>
                  </a:moveTo>
                  <a:lnTo>
                    <a:pt x="128949" y="0"/>
                  </a:lnTo>
                  <a:lnTo>
                    <a:pt x="128949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5D7082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0"/>
              <a:ext cx="128949" cy="27093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2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2437768" y="0"/>
            <a:ext cx="5850232" cy="7702357"/>
            <a:chOff x="0" y="0"/>
            <a:chExt cx="1540802" cy="202860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540802" cy="2028604"/>
            </a:xfrm>
            <a:custGeom>
              <a:avLst/>
              <a:gdLst/>
              <a:ahLst/>
              <a:cxnLst/>
              <a:rect r="r" b="b" t="t" l="l"/>
              <a:pathLst>
                <a:path h="2028604" w="1540802">
                  <a:moveTo>
                    <a:pt x="0" y="0"/>
                  </a:moveTo>
                  <a:lnTo>
                    <a:pt x="1540802" y="0"/>
                  </a:lnTo>
                  <a:lnTo>
                    <a:pt x="1540802" y="2028604"/>
                  </a:lnTo>
                  <a:lnTo>
                    <a:pt x="0" y="2028604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0"/>
              <a:ext cx="1540802" cy="202860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29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462692" y="1315986"/>
            <a:ext cx="8997049" cy="1082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125"/>
              </a:lnSpc>
            </a:pPr>
            <a:r>
              <a:rPr lang="en-US" sz="6500" b="true">
                <a:solidFill>
                  <a:srgbClr val="0B4B49"/>
                </a:solidFill>
                <a:latin typeface="Poppins Bold"/>
                <a:ea typeface="Poppins Bold"/>
                <a:cs typeface="Poppins Bold"/>
                <a:sym typeface="Poppins Bold"/>
              </a:rPr>
              <a:t>GLOVE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671865" y="3945405"/>
            <a:ext cx="8787876" cy="4203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863599" indent="-431800" lvl="1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0B4B49"/>
                </a:solidFill>
                <a:latin typeface="DM Sans"/>
                <a:ea typeface="DM Sans"/>
                <a:cs typeface="DM Sans"/>
                <a:sym typeface="DM Sans"/>
              </a:rPr>
              <a:t>Based on Stanford’s library</a:t>
            </a:r>
          </a:p>
          <a:p>
            <a:pPr algn="just" marL="863599" indent="-431800" lvl="1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0B4B49"/>
                </a:solidFill>
                <a:latin typeface="DM Sans"/>
                <a:ea typeface="DM Sans"/>
                <a:cs typeface="DM Sans"/>
                <a:sym typeface="DM Sans"/>
              </a:rPr>
              <a:t>Standard data prep like others</a:t>
            </a:r>
          </a:p>
          <a:p>
            <a:pPr algn="just" marL="863599" indent="-431800" lvl="1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0B4B49"/>
                </a:solidFill>
                <a:latin typeface="DM Sans"/>
                <a:ea typeface="DM Sans"/>
                <a:cs typeface="DM Sans"/>
                <a:sym typeface="DM Sans"/>
              </a:rPr>
              <a:t>pre-trained word embeddings 6b parameters</a:t>
            </a:r>
          </a:p>
          <a:p>
            <a:pPr algn="just" marL="863599" indent="-431800" lvl="1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0B4B49"/>
                </a:solidFill>
                <a:latin typeface="DM Sans"/>
                <a:ea typeface="DM Sans"/>
                <a:cs typeface="DM Sans"/>
                <a:sym typeface="DM Sans"/>
              </a:rPr>
              <a:t>Accuracy of approximately 88% using a support vector classifier.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80BFA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62361" y="810905"/>
            <a:ext cx="600331" cy="600331"/>
          </a:xfrm>
          <a:custGeom>
            <a:avLst/>
            <a:gdLst/>
            <a:ahLst/>
            <a:cxnLst/>
            <a:rect r="r" b="b" t="t" l="l"/>
            <a:pathLst>
              <a:path h="600331" w="600331">
                <a:moveTo>
                  <a:pt x="0" y="0"/>
                </a:moveTo>
                <a:lnTo>
                  <a:pt x="600331" y="0"/>
                </a:lnTo>
                <a:lnTo>
                  <a:pt x="600331" y="600331"/>
                </a:lnTo>
                <a:lnTo>
                  <a:pt x="0" y="60033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-10800000">
            <a:off x="11948164" y="0"/>
            <a:ext cx="489605" cy="10287000"/>
            <a:chOff x="0" y="0"/>
            <a:chExt cx="128949" cy="270933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28949" cy="2709333"/>
            </a:xfrm>
            <a:custGeom>
              <a:avLst/>
              <a:gdLst/>
              <a:ahLst/>
              <a:cxnLst/>
              <a:rect r="r" b="b" t="t" l="l"/>
              <a:pathLst>
                <a:path h="2709333" w="128949">
                  <a:moveTo>
                    <a:pt x="0" y="0"/>
                  </a:moveTo>
                  <a:lnTo>
                    <a:pt x="128949" y="0"/>
                  </a:lnTo>
                  <a:lnTo>
                    <a:pt x="128949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5D7082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0"/>
              <a:ext cx="128949" cy="27093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2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2437768" y="0"/>
            <a:ext cx="5850232" cy="7702357"/>
            <a:chOff x="0" y="0"/>
            <a:chExt cx="1540802" cy="202860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540802" cy="2028604"/>
            </a:xfrm>
            <a:custGeom>
              <a:avLst/>
              <a:gdLst/>
              <a:ahLst/>
              <a:cxnLst/>
              <a:rect r="r" b="b" t="t" l="l"/>
              <a:pathLst>
                <a:path h="2028604" w="1540802">
                  <a:moveTo>
                    <a:pt x="0" y="0"/>
                  </a:moveTo>
                  <a:lnTo>
                    <a:pt x="1540802" y="0"/>
                  </a:lnTo>
                  <a:lnTo>
                    <a:pt x="1540802" y="2028604"/>
                  </a:lnTo>
                  <a:lnTo>
                    <a:pt x="0" y="2028604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0"/>
              <a:ext cx="1540802" cy="202860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29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462692" y="1315986"/>
            <a:ext cx="8997049" cy="1082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125"/>
              </a:lnSpc>
            </a:pPr>
            <a:r>
              <a:rPr lang="en-US" sz="6500" b="true">
                <a:solidFill>
                  <a:srgbClr val="0B4B49"/>
                </a:solidFill>
                <a:latin typeface="Poppins Bold"/>
                <a:ea typeface="Poppins Bold"/>
                <a:cs typeface="Poppins Bold"/>
                <a:sym typeface="Poppins Bold"/>
              </a:rPr>
              <a:t>TRANSFER LEARNING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671865" y="3945405"/>
            <a:ext cx="8787876" cy="4203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63599" indent="-431800" lvl="1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0B4B49"/>
                </a:solidFill>
                <a:latin typeface="DM Sans"/>
                <a:ea typeface="DM Sans"/>
                <a:cs typeface="DM Sans"/>
                <a:sym typeface="DM Sans"/>
              </a:rPr>
              <a:t>Transfer learning based on distilbert uncased from HuggingFace</a:t>
            </a:r>
          </a:p>
          <a:p>
            <a:pPr algn="l" marL="863599" indent="-431800" lvl="1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0B4B49"/>
                </a:solidFill>
                <a:latin typeface="DM Sans"/>
                <a:ea typeface="DM Sans"/>
                <a:cs typeface="DM Sans"/>
                <a:sym typeface="DM Sans"/>
              </a:rPr>
              <a:t>3 epochs for 16 batch size</a:t>
            </a:r>
          </a:p>
          <a:p>
            <a:pPr algn="l" marL="863599" indent="-431800" lvl="1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0B4B49"/>
                </a:solidFill>
                <a:latin typeface="DM Sans"/>
                <a:ea typeface="DM Sans"/>
                <a:cs typeface="DM Sans"/>
                <a:sym typeface="DM Sans"/>
              </a:rPr>
              <a:t>98.23% accuracy (our highest performing model so far)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80BFA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62361" y="810905"/>
            <a:ext cx="600331" cy="600331"/>
          </a:xfrm>
          <a:custGeom>
            <a:avLst/>
            <a:gdLst/>
            <a:ahLst/>
            <a:cxnLst/>
            <a:rect r="r" b="b" t="t" l="l"/>
            <a:pathLst>
              <a:path h="600331" w="600331">
                <a:moveTo>
                  <a:pt x="0" y="0"/>
                </a:moveTo>
                <a:lnTo>
                  <a:pt x="600331" y="0"/>
                </a:lnTo>
                <a:lnTo>
                  <a:pt x="600331" y="600331"/>
                </a:lnTo>
                <a:lnTo>
                  <a:pt x="0" y="60033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-10800000">
            <a:off x="11948164" y="0"/>
            <a:ext cx="489605" cy="10287000"/>
            <a:chOff x="0" y="0"/>
            <a:chExt cx="128949" cy="270933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28949" cy="2709333"/>
            </a:xfrm>
            <a:custGeom>
              <a:avLst/>
              <a:gdLst/>
              <a:ahLst/>
              <a:cxnLst/>
              <a:rect r="r" b="b" t="t" l="l"/>
              <a:pathLst>
                <a:path h="2709333" w="128949">
                  <a:moveTo>
                    <a:pt x="0" y="0"/>
                  </a:moveTo>
                  <a:lnTo>
                    <a:pt x="128949" y="0"/>
                  </a:lnTo>
                  <a:lnTo>
                    <a:pt x="128949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5D7082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0"/>
              <a:ext cx="128949" cy="27093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2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2437768" y="0"/>
            <a:ext cx="5850232" cy="7702357"/>
            <a:chOff x="0" y="0"/>
            <a:chExt cx="1540802" cy="202860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540802" cy="2028604"/>
            </a:xfrm>
            <a:custGeom>
              <a:avLst/>
              <a:gdLst/>
              <a:ahLst/>
              <a:cxnLst/>
              <a:rect r="r" b="b" t="t" l="l"/>
              <a:pathLst>
                <a:path h="2028604" w="1540802">
                  <a:moveTo>
                    <a:pt x="0" y="0"/>
                  </a:moveTo>
                  <a:lnTo>
                    <a:pt x="1540802" y="0"/>
                  </a:lnTo>
                  <a:lnTo>
                    <a:pt x="1540802" y="2028604"/>
                  </a:lnTo>
                  <a:lnTo>
                    <a:pt x="0" y="2028604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0"/>
              <a:ext cx="1540802" cy="202860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29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462692" y="1315986"/>
            <a:ext cx="8997049" cy="2111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125"/>
              </a:lnSpc>
            </a:pPr>
            <a:r>
              <a:rPr lang="en-US" sz="6500" b="true">
                <a:solidFill>
                  <a:srgbClr val="0B4B49"/>
                </a:solidFill>
                <a:latin typeface="Poppins Bold"/>
                <a:ea typeface="Poppins Bold"/>
                <a:cs typeface="Poppins Bold"/>
                <a:sym typeface="Poppins Bold"/>
              </a:rPr>
              <a:t>TRANSFER LEARNING V2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671865" y="3945405"/>
            <a:ext cx="8787876" cy="4908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863599" indent="-431800" lvl="1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0B4B49"/>
                </a:solidFill>
                <a:latin typeface="DM Sans"/>
                <a:ea typeface="DM Sans"/>
                <a:cs typeface="DM Sans"/>
                <a:sym typeface="DM Sans"/>
              </a:rPr>
              <a:t>Text classification based on multilingual-IPTC-news-topic-classifier from HuggingFace</a:t>
            </a:r>
          </a:p>
          <a:p>
            <a:pPr algn="just" marL="863599" indent="-431800" lvl="1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0B4B49"/>
                </a:solidFill>
                <a:latin typeface="DM Sans"/>
                <a:ea typeface="DM Sans"/>
                <a:cs typeface="DM Sans"/>
                <a:sym typeface="DM Sans"/>
              </a:rPr>
              <a:t>Classifies news into 17 labels</a:t>
            </a:r>
          </a:p>
          <a:p>
            <a:pPr algn="just" marL="863599" indent="-431800" lvl="1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0B4B49"/>
                </a:solidFill>
                <a:latin typeface="DM Sans"/>
                <a:ea typeface="DM Sans"/>
                <a:cs typeface="DM Sans"/>
                <a:sym typeface="DM Sans"/>
              </a:rPr>
              <a:t>Provides a distribution on how the percentage real and fake news vary in topics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10800000">
            <a:off x="11948164" y="0"/>
            <a:ext cx="489605" cy="10287000"/>
            <a:chOff x="0" y="0"/>
            <a:chExt cx="128949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8949" cy="2709333"/>
            </a:xfrm>
            <a:custGeom>
              <a:avLst/>
              <a:gdLst/>
              <a:ahLst/>
              <a:cxnLst/>
              <a:rect r="r" b="b" t="t" l="l"/>
              <a:pathLst>
                <a:path h="2709333" w="128949">
                  <a:moveTo>
                    <a:pt x="0" y="0"/>
                  </a:moveTo>
                  <a:lnTo>
                    <a:pt x="128949" y="0"/>
                  </a:lnTo>
                  <a:lnTo>
                    <a:pt x="128949" y="2709333"/>
                  </a:lnTo>
                  <a:lnTo>
                    <a:pt x="0" y="2709333"/>
                  </a:lnTo>
                  <a:close/>
                </a:path>
              </a:pathLst>
            </a:custGeom>
            <a:gradFill rotWithShape="true">
              <a:gsLst>
                <a:gs pos="0">
                  <a:srgbClr val="0A3F3A">
                    <a:alpha val="100000"/>
                  </a:srgbClr>
                </a:gs>
                <a:gs pos="50000">
                  <a:srgbClr val="116E71">
                    <a:alpha val="100000"/>
                  </a:srgbClr>
                </a:gs>
                <a:gs pos="100000">
                  <a:srgbClr val="43D8C6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0"/>
              <a:ext cx="128949" cy="27093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2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2437768" y="0"/>
            <a:ext cx="5850232" cy="7702357"/>
            <a:chOff x="0" y="0"/>
            <a:chExt cx="1540802" cy="202860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540802" cy="2028604"/>
            </a:xfrm>
            <a:custGeom>
              <a:avLst/>
              <a:gdLst/>
              <a:ahLst/>
              <a:cxnLst/>
              <a:rect r="r" b="b" t="t" l="l"/>
              <a:pathLst>
                <a:path h="2028604" w="1540802">
                  <a:moveTo>
                    <a:pt x="0" y="0"/>
                  </a:moveTo>
                  <a:lnTo>
                    <a:pt x="1540802" y="0"/>
                  </a:lnTo>
                  <a:lnTo>
                    <a:pt x="1540802" y="2028604"/>
                  </a:lnTo>
                  <a:lnTo>
                    <a:pt x="0" y="2028604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0"/>
              <a:ext cx="1540802" cy="202860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29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2260465" y="0"/>
            <a:ext cx="13767070" cy="10287000"/>
          </a:xfrm>
          <a:custGeom>
            <a:avLst/>
            <a:gdLst/>
            <a:ahLst/>
            <a:cxnLst/>
            <a:rect r="r" b="b" t="t" l="l"/>
            <a:pathLst>
              <a:path h="10287000" w="13767070">
                <a:moveTo>
                  <a:pt x="0" y="0"/>
                </a:moveTo>
                <a:lnTo>
                  <a:pt x="13767070" y="0"/>
                </a:lnTo>
                <a:lnTo>
                  <a:pt x="1376707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154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62361" y="810905"/>
            <a:ext cx="600331" cy="600331"/>
          </a:xfrm>
          <a:custGeom>
            <a:avLst/>
            <a:gdLst/>
            <a:ahLst/>
            <a:cxnLst/>
            <a:rect r="r" b="b" t="t" l="l"/>
            <a:pathLst>
              <a:path h="600331" w="600331">
                <a:moveTo>
                  <a:pt x="0" y="0"/>
                </a:moveTo>
                <a:lnTo>
                  <a:pt x="600331" y="0"/>
                </a:lnTo>
                <a:lnTo>
                  <a:pt x="600331" y="600331"/>
                </a:lnTo>
                <a:lnTo>
                  <a:pt x="0" y="60033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-10800000">
            <a:off x="0" y="9680044"/>
            <a:ext cx="18288000" cy="606956"/>
            <a:chOff x="0" y="0"/>
            <a:chExt cx="4816593" cy="15985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816592" cy="159857"/>
            </a:xfrm>
            <a:custGeom>
              <a:avLst/>
              <a:gdLst/>
              <a:ahLst/>
              <a:cxnLst/>
              <a:rect r="r" b="b" t="t" l="l"/>
              <a:pathLst>
                <a:path h="159857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159857"/>
                  </a:lnTo>
                  <a:lnTo>
                    <a:pt x="0" y="159857"/>
                  </a:lnTo>
                  <a:close/>
                </a:path>
              </a:pathLst>
            </a:custGeom>
            <a:solidFill>
              <a:srgbClr val="5D7082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0"/>
              <a:ext cx="4816593" cy="1598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2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6092247" y="0"/>
            <a:ext cx="2195753" cy="9680044"/>
            <a:chOff x="0" y="0"/>
            <a:chExt cx="578305" cy="254947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78305" cy="2549477"/>
            </a:xfrm>
            <a:custGeom>
              <a:avLst/>
              <a:gdLst/>
              <a:ahLst/>
              <a:cxnLst/>
              <a:rect r="r" b="b" t="t" l="l"/>
              <a:pathLst>
                <a:path h="2549477" w="578305">
                  <a:moveTo>
                    <a:pt x="0" y="0"/>
                  </a:moveTo>
                  <a:lnTo>
                    <a:pt x="578305" y="0"/>
                  </a:lnTo>
                  <a:lnTo>
                    <a:pt x="578305" y="2549477"/>
                  </a:lnTo>
                  <a:lnTo>
                    <a:pt x="0" y="2549477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0"/>
              <a:ext cx="578305" cy="254947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2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0847377" y="7633558"/>
            <a:ext cx="7440623" cy="2046486"/>
            <a:chOff x="0" y="0"/>
            <a:chExt cx="1959670" cy="53899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959670" cy="538992"/>
            </a:xfrm>
            <a:custGeom>
              <a:avLst/>
              <a:gdLst/>
              <a:ahLst/>
              <a:cxnLst/>
              <a:rect r="r" b="b" t="t" l="l"/>
              <a:pathLst>
                <a:path h="538992" w="1959670">
                  <a:moveTo>
                    <a:pt x="0" y="0"/>
                  </a:moveTo>
                  <a:lnTo>
                    <a:pt x="1959670" y="0"/>
                  </a:lnTo>
                  <a:lnTo>
                    <a:pt x="1959670" y="538992"/>
                  </a:lnTo>
                  <a:lnTo>
                    <a:pt x="0" y="538992"/>
                  </a:lnTo>
                  <a:close/>
                </a:path>
              </a:pathLst>
            </a:custGeom>
            <a:solidFill>
              <a:srgbClr val="80BFAC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0"/>
              <a:ext cx="1959670" cy="5389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29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1462692" y="1220736"/>
            <a:ext cx="8178382" cy="1177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100"/>
              </a:lnSpc>
            </a:pPr>
            <a:r>
              <a:rPr lang="en-US" sz="6500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Best Model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690730" y="3198086"/>
            <a:ext cx="12876958" cy="49307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755642" indent="-377821" lvl="1">
              <a:lnSpc>
                <a:spcPts val="4899"/>
              </a:lnSpc>
              <a:buFont typeface="Arial"/>
              <a:buChar char="•"/>
            </a:pPr>
            <a:r>
              <a:rPr lang="en-US" sz="3499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BERT - Transferlearning</a:t>
            </a:r>
          </a:p>
          <a:p>
            <a:pPr algn="just">
              <a:lnSpc>
                <a:spcPts val="4899"/>
              </a:lnSpc>
            </a:pPr>
          </a:p>
          <a:p>
            <a:pPr algn="l" marL="1511285" indent="-503762" lvl="2">
              <a:lnSpc>
                <a:spcPts val="4899"/>
              </a:lnSpc>
              <a:buFont typeface="Arial"/>
              <a:buChar char="⚬"/>
            </a:pPr>
            <a:r>
              <a:rPr lang="en-US" sz="3499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Pretrained model on d</a:t>
            </a:r>
            <a:r>
              <a:rPr lang="en-US" sz="3499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is</a:t>
            </a:r>
            <a:r>
              <a:rPr lang="en-US" sz="3499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tilbert uncased from HuggingFace</a:t>
            </a:r>
          </a:p>
          <a:p>
            <a:pPr algn="l">
              <a:lnSpc>
                <a:spcPts val="4899"/>
              </a:lnSpc>
            </a:pPr>
          </a:p>
          <a:p>
            <a:pPr algn="l" marL="1511285" indent="-503762" lvl="2">
              <a:lnSpc>
                <a:spcPts val="4899"/>
              </a:lnSpc>
              <a:buFont typeface="Arial"/>
              <a:buChar char="⚬"/>
            </a:pPr>
            <a:r>
              <a:rPr lang="en-US" sz="3499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Accuracy of 98.23%</a:t>
            </a:r>
          </a:p>
          <a:p>
            <a:pPr algn="l">
              <a:lnSpc>
                <a:spcPts val="4899"/>
              </a:lnSpc>
            </a:pPr>
          </a:p>
          <a:p>
            <a:pPr algn="l" marL="1511285" indent="-503762" lvl="2">
              <a:lnSpc>
                <a:spcPts val="4899"/>
              </a:lnSpc>
              <a:buFont typeface="Arial"/>
              <a:buChar char="⚬"/>
            </a:pPr>
            <a:r>
              <a:rPr lang="en-US" sz="3499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Used to develop the streamlit app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912617" y="6996887"/>
            <a:ext cx="11375383" cy="3290113"/>
            <a:chOff x="0" y="0"/>
            <a:chExt cx="2995986" cy="86653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995986" cy="866532"/>
            </a:xfrm>
            <a:custGeom>
              <a:avLst/>
              <a:gdLst/>
              <a:ahLst/>
              <a:cxnLst/>
              <a:rect r="r" b="b" t="t" l="l"/>
              <a:pathLst>
                <a:path h="866532" w="2995986">
                  <a:moveTo>
                    <a:pt x="0" y="0"/>
                  </a:moveTo>
                  <a:lnTo>
                    <a:pt x="2995986" y="0"/>
                  </a:lnTo>
                  <a:lnTo>
                    <a:pt x="2995986" y="866532"/>
                  </a:lnTo>
                  <a:lnTo>
                    <a:pt x="0" y="866532"/>
                  </a:lnTo>
                  <a:close/>
                </a:path>
              </a:pathLst>
            </a:custGeom>
            <a:solidFill>
              <a:srgbClr val="80BFAC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0"/>
              <a:ext cx="2995986" cy="8665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2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0" y="0"/>
            <a:ext cx="7768990" cy="10287000"/>
            <a:chOff x="0" y="0"/>
            <a:chExt cx="2046154" cy="270933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046154" cy="2709333"/>
            </a:xfrm>
            <a:custGeom>
              <a:avLst/>
              <a:gdLst/>
              <a:ahLst/>
              <a:cxnLst/>
              <a:rect r="r" b="b" t="t" l="l"/>
              <a:pathLst>
                <a:path h="2709333" w="2046154">
                  <a:moveTo>
                    <a:pt x="0" y="0"/>
                  </a:moveTo>
                  <a:lnTo>
                    <a:pt x="2046154" y="0"/>
                  </a:lnTo>
                  <a:lnTo>
                    <a:pt x="2046154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5D7082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0"/>
              <a:ext cx="2046154" cy="27093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29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862361" y="810905"/>
            <a:ext cx="600331" cy="600331"/>
          </a:xfrm>
          <a:custGeom>
            <a:avLst/>
            <a:gdLst/>
            <a:ahLst/>
            <a:cxnLst/>
            <a:rect r="r" b="b" t="t" l="l"/>
            <a:pathLst>
              <a:path h="600331" w="600331">
                <a:moveTo>
                  <a:pt x="0" y="0"/>
                </a:moveTo>
                <a:lnTo>
                  <a:pt x="600331" y="0"/>
                </a:lnTo>
                <a:lnTo>
                  <a:pt x="600331" y="600331"/>
                </a:lnTo>
                <a:lnTo>
                  <a:pt x="0" y="60033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756868" y="2030129"/>
            <a:ext cx="14774264" cy="6998118"/>
          </a:xfrm>
          <a:custGeom>
            <a:avLst/>
            <a:gdLst/>
            <a:ahLst/>
            <a:cxnLst/>
            <a:rect r="r" b="b" t="t" l="l"/>
            <a:pathLst>
              <a:path h="6998118" w="14774264">
                <a:moveTo>
                  <a:pt x="0" y="0"/>
                </a:moveTo>
                <a:lnTo>
                  <a:pt x="14774264" y="0"/>
                </a:lnTo>
                <a:lnTo>
                  <a:pt x="14774264" y="6998118"/>
                </a:lnTo>
                <a:lnTo>
                  <a:pt x="0" y="699811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11351" r="0" b="-7401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7006733" y="3447583"/>
            <a:ext cx="8244206" cy="1169146"/>
            <a:chOff x="0" y="0"/>
            <a:chExt cx="3474236" cy="49269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474236" cy="492696"/>
            </a:xfrm>
            <a:custGeom>
              <a:avLst/>
              <a:gdLst/>
              <a:ahLst/>
              <a:cxnLst/>
              <a:rect r="r" b="b" t="t" l="l"/>
              <a:pathLst>
                <a:path h="492696" w="3474236">
                  <a:moveTo>
                    <a:pt x="1737118" y="0"/>
                  </a:moveTo>
                  <a:cubicBezTo>
                    <a:pt x="777734" y="0"/>
                    <a:pt x="0" y="110294"/>
                    <a:pt x="0" y="246348"/>
                  </a:cubicBezTo>
                  <a:cubicBezTo>
                    <a:pt x="0" y="382402"/>
                    <a:pt x="777734" y="492696"/>
                    <a:pt x="1737118" y="492696"/>
                  </a:cubicBezTo>
                  <a:cubicBezTo>
                    <a:pt x="2696501" y="492696"/>
                    <a:pt x="3474236" y="382402"/>
                    <a:pt x="3474236" y="246348"/>
                  </a:cubicBezTo>
                  <a:cubicBezTo>
                    <a:pt x="3474236" y="110294"/>
                    <a:pt x="2696501" y="0"/>
                    <a:pt x="1737118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325710" y="46190"/>
              <a:ext cx="2822817" cy="40031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29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8598020" y="426495"/>
            <a:ext cx="8661280" cy="4606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858"/>
              </a:lnSpc>
            </a:pPr>
            <a:r>
              <a:rPr lang="en-US" sz="2755" u="sng">
                <a:solidFill>
                  <a:srgbClr val="0B4B49"/>
                </a:solidFill>
                <a:latin typeface="DM Sans"/>
                <a:ea typeface="DM Sans"/>
                <a:cs typeface="DM Sans"/>
                <a:sym typeface="DM Sans"/>
                <a:hlinkClick r:id="rId5" tooltip="https://nlp-project-fake-news-detection.streamlit.app"/>
              </a:rPr>
              <a:t>Click here to go to our streamlit app!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462692" y="800007"/>
            <a:ext cx="6306298" cy="927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500"/>
              </a:lnSpc>
            </a:pPr>
            <a:r>
              <a:rPr lang="en-US" sz="6500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Streamlit APP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402620" y="2156596"/>
            <a:ext cx="6963750" cy="6485347"/>
            <a:chOff x="0" y="0"/>
            <a:chExt cx="2934632" cy="2733026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934632" cy="2733026"/>
            </a:xfrm>
            <a:custGeom>
              <a:avLst/>
              <a:gdLst/>
              <a:ahLst/>
              <a:cxnLst/>
              <a:rect r="r" b="b" t="t" l="l"/>
              <a:pathLst>
                <a:path h="2733026" w="2934632">
                  <a:moveTo>
                    <a:pt x="1467316" y="0"/>
                  </a:moveTo>
                  <a:cubicBezTo>
                    <a:pt x="656940" y="0"/>
                    <a:pt x="0" y="611809"/>
                    <a:pt x="0" y="1366513"/>
                  </a:cubicBezTo>
                  <a:cubicBezTo>
                    <a:pt x="0" y="2121217"/>
                    <a:pt x="656940" y="2733026"/>
                    <a:pt x="1467316" y="2733026"/>
                  </a:cubicBezTo>
                  <a:cubicBezTo>
                    <a:pt x="2277692" y="2733026"/>
                    <a:pt x="2934632" y="2121217"/>
                    <a:pt x="2934632" y="1366513"/>
                  </a:cubicBezTo>
                  <a:cubicBezTo>
                    <a:pt x="2934632" y="611809"/>
                    <a:pt x="2277692" y="0"/>
                    <a:pt x="1467316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275122" y="256221"/>
              <a:ext cx="2384388" cy="22205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29"/>
                </a:lnSpc>
              </a:pP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13139706" y="2498409"/>
            <a:ext cx="5015237" cy="9491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58"/>
              </a:lnSpc>
            </a:pPr>
            <a:r>
              <a:rPr lang="en-US" sz="2755">
                <a:solidFill>
                  <a:srgbClr val="0B4B49"/>
                </a:solidFill>
                <a:latin typeface="DM Sans"/>
                <a:ea typeface="DM Sans"/>
                <a:cs typeface="DM Sans"/>
                <a:sym typeface="DM Sans"/>
              </a:rPr>
              <a:t>Model deployment to classify if the news are real or fake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5764861" y="2144790"/>
            <a:ext cx="5015237" cy="7548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18"/>
              </a:lnSpc>
            </a:pPr>
            <a:r>
              <a:rPr lang="en-US" sz="2155">
                <a:solidFill>
                  <a:srgbClr val="0B4B49"/>
                </a:solidFill>
                <a:latin typeface="DM Sans"/>
                <a:ea typeface="DM Sans"/>
                <a:cs typeface="DM Sans"/>
                <a:sym typeface="DM Sans"/>
              </a:rPr>
              <a:t>Insert the article title and content here to be used as in put for the model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3272763" y="5170103"/>
            <a:ext cx="5015237" cy="9491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58"/>
              </a:lnSpc>
            </a:pPr>
            <a:r>
              <a:rPr lang="en-US" sz="2755">
                <a:solidFill>
                  <a:srgbClr val="0B4B49"/>
                </a:solidFill>
                <a:latin typeface="DM Sans"/>
                <a:ea typeface="DM Sans"/>
                <a:cs typeface="DM Sans"/>
                <a:sym typeface="DM Sans"/>
              </a:rPr>
              <a:t>Sentiment Analysis of the input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8598020" y="981075"/>
            <a:ext cx="8661280" cy="4606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858"/>
              </a:lnSpc>
            </a:pPr>
            <a:r>
              <a:rPr lang="en-US" sz="2755" u="sng">
                <a:solidFill>
                  <a:srgbClr val="0B4B49"/>
                </a:solidFill>
                <a:latin typeface="DM Sans"/>
                <a:ea typeface="DM Sans"/>
                <a:cs typeface="DM Sans"/>
                <a:sym typeface="DM Sans"/>
                <a:hlinkClick r:id="rId6" tooltip="https://github.com/Johnny386/NLP-Project"/>
              </a:rPr>
              <a:t>Click here to go to the Github repository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912617" y="6996887"/>
            <a:ext cx="11375383" cy="3290113"/>
            <a:chOff x="0" y="0"/>
            <a:chExt cx="2995986" cy="86653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995986" cy="866532"/>
            </a:xfrm>
            <a:custGeom>
              <a:avLst/>
              <a:gdLst/>
              <a:ahLst/>
              <a:cxnLst/>
              <a:rect r="r" b="b" t="t" l="l"/>
              <a:pathLst>
                <a:path h="866532" w="2995986">
                  <a:moveTo>
                    <a:pt x="0" y="0"/>
                  </a:moveTo>
                  <a:lnTo>
                    <a:pt x="2995986" y="0"/>
                  </a:lnTo>
                  <a:lnTo>
                    <a:pt x="2995986" y="866532"/>
                  </a:lnTo>
                  <a:lnTo>
                    <a:pt x="0" y="866532"/>
                  </a:lnTo>
                  <a:close/>
                </a:path>
              </a:pathLst>
            </a:custGeom>
            <a:solidFill>
              <a:srgbClr val="80BFAC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0"/>
              <a:ext cx="2995986" cy="8665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2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0" y="0"/>
            <a:ext cx="7768990" cy="10287000"/>
            <a:chOff x="0" y="0"/>
            <a:chExt cx="2046154" cy="270933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046154" cy="2709333"/>
            </a:xfrm>
            <a:custGeom>
              <a:avLst/>
              <a:gdLst/>
              <a:ahLst/>
              <a:cxnLst/>
              <a:rect r="r" b="b" t="t" l="l"/>
              <a:pathLst>
                <a:path h="2709333" w="2046154">
                  <a:moveTo>
                    <a:pt x="0" y="0"/>
                  </a:moveTo>
                  <a:lnTo>
                    <a:pt x="2046154" y="0"/>
                  </a:lnTo>
                  <a:lnTo>
                    <a:pt x="2046154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B4B49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0"/>
              <a:ext cx="2046154" cy="27093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29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862361" y="810905"/>
            <a:ext cx="600331" cy="600331"/>
          </a:xfrm>
          <a:custGeom>
            <a:avLst/>
            <a:gdLst/>
            <a:ahLst/>
            <a:cxnLst/>
            <a:rect r="r" b="b" t="t" l="l"/>
            <a:pathLst>
              <a:path h="600331" w="600331">
                <a:moveTo>
                  <a:pt x="0" y="0"/>
                </a:moveTo>
                <a:lnTo>
                  <a:pt x="600331" y="0"/>
                </a:lnTo>
                <a:lnTo>
                  <a:pt x="600331" y="600331"/>
                </a:lnTo>
                <a:lnTo>
                  <a:pt x="0" y="60033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pic>
        <p:nvPicPr>
          <p:cNvPr name="Picture 9" id="9">
            <a:hlinkClick action="ppaction://media"/>
          </p:cNvPr>
          <p:cNvPicPr>
            <a:picLocks noChangeAspect="true"/>
          </p:cNvPicPr>
          <p:nvPr>
            <a:videoFile r:link="rId5"/>
            <p:extLst>
              <p:ext uri="{DAA4B4D4-6D71-4841-9C94-3DE7FCFB9230}">
                <p14:media xmlns:p14="http://schemas.microsoft.com/office/powerpoint/2010/main" r:embed="rId6"/>
              </p:ext>
            </p:extLst>
          </p:nvPr>
        </p:nvPicPr>
        <p:blipFill>
          <a:blip r:embed="rId4"/>
          <a:srcRect l="0" t="0" r="0" b="0"/>
          <a:stretch>
            <a:fillRect/>
          </a:stretch>
        </p:blipFill>
        <p:spPr>
          <a:xfrm flipH="false" flipV="false" rot="0">
            <a:off x="1028700" y="2547511"/>
            <a:ext cx="16230600" cy="7459604"/>
          </a:xfrm>
          <a:prstGeom prst="rect">
            <a:avLst/>
          </a:prstGeom>
        </p:spPr>
      </p:pic>
      <p:sp>
        <p:nvSpPr>
          <p:cNvPr name="TextBox 10" id="10"/>
          <p:cNvSpPr txBox="true"/>
          <p:nvPr/>
        </p:nvSpPr>
        <p:spPr>
          <a:xfrm rot="0">
            <a:off x="1462692" y="1468386"/>
            <a:ext cx="6306298" cy="927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500"/>
              </a:lnSpc>
            </a:pPr>
            <a:r>
              <a:rPr lang="en-US" sz="6500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Video Demo</a:t>
            </a:r>
          </a:p>
        </p:txBody>
      </p:sp>
    </p:spTree>
  </p:cSld>
  <p:clrMapOvr>
    <a:masterClrMapping/>
  </p:clrMapOvr>
  <p:timing>
    <p:tnLst>
      <p:par>
        <p:cTn dur="indefinite" restart="never" nodeType="tmRoot">
          <p:childTnLst>
            <p:video>
              <p:cMediaNode vol="100000">
                <p:cTn fill="hold" display="false">
                  <p:stCondLst>
                    <p:cond delay="indefinite"/>
                  </p:stCondLst>
                </p:cTn>
                <p:tgtEl>
                  <p:spTgt spid="9"/>
                </p:tgtEl>
              </p:cMediaNode>
            </p:video>
          </p:childTnLst>
        </p:cTn>
      </p:par>
    </p:tnLst>
  </p:timing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154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008004" y="0"/>
            <a:ext cx="7279996" cy="8295649"/>
            <a:chOff x="0" y="0"/>
            <a:chExt cx="9706661" cy="11060865"/>
          </a:xfrm>
        </p:grpSpPr>
        <p:pic>
          <p:nvPicPr>
            <p:cNvPr name="Picture 3" id="3"/>
            <p:cNvPicPr>
              <a:picLocks noChangeAspect="true"/>
            </p:cNvPicPr>
            <p:nvPr/>
          </p:nvPicPr>
          <p:blipFill>
            <a:blip r:embed="rId2"/>
            <a:srcRect l="17091" t="0" r="17091" b="0"/>
            <a:stretch>
              <a:fillRect/>
            </a:stretch>
          </p:blipFill>
          <p:spPr>
            <a:xfrm flipH="false" flipV="false">
              <a:off x="0" y="0"/>
              <a:ext cx="9706661" cy="11060865"/>
            </a:xfrm>
            <a:prstGeom prst="rect">
              <a:avLst/>
            </a:prstGeom>
          </p:spPr>
        </p:pic>
      </p:grpSp>
      <p:sp>
        <p:nvSpPr>
          <p:cNvPr name="Freeform 4" id="4"/>
          <p:cNvSpPr/>
          <p:nvPr/>
        </p:nvSpPr>
        <p:spPr>
          <a:xfrm flipH="false" flipV="false" rot="0">
            <a:off x="862361" y="810905"/>
            <a:ext cx="600331" cy="600331"/>
          </a:xfrm>
          <a:custGeom>
            <a:avLst/>
            <a:gdLst/>
            <a:ahLst/>
            <a:cxnLst/>
            <a:rect r="r" b="b" t="t" l="l"/>
            <a:pathLst>
              <a:path h="600331" w="600331">
                <a:moveTo>
                  <a:pt x="0" y="0"/>
                </a:moveTo>
                <a:lnTo>
                  <a:pt x="600331" y="0"/>
                </a:lnTo>
                <a:lnTo>
                  <a:pt x="600331" y="600331"/>
                </a:lnTo>
                <a:lnTo>
                  <a:pt x="0" y="60033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1008004" y="7976651"/>
            <a:ext cx="7279996" cy="2325499"/>
            <a:chOff x="0" y="0"/>
            <a:chExt cx="1917365" cy="61247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917365" cy="612477"/>
            </a:xfrm>
            <a:custGeom>
              <a:avLst/>
              <a:gdLst/>
              <a:ahLst/>
              <a:cxnLst/>
              <a:rect r="r" b="b" t="t" l="l"/>
              <a:pathLst>
                <a:path h="612477" w="1917365">
                  <a:moveTo>
                    <a:pt x="0" y="0"/>
                  </a:moveTo>
                  <a:lnTo>
                    <a:pt x="1917365" y="0"/>
                  </a:lnTo>
                  <a:lnTo>
                    <a:pt x="1917365" y="612477"/>
                  </a:lnTo>
                  <a:lnTo>
                    <a:pt x="0" y="612477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0"/>
              <a:ext cx="1917365" cy="61247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29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1008004" y="810905"/>
            <a:ext cx="7279996" cy="7279996"/>
          </a:xfrm>
          <a:custGeom>
            <a:avLst/>
            <a:gdLst/>
            <a:ahLst/>
            <a:cxnLst/>
            <a:rect r="r" b="b" t="t" l="l"/>
            <a:pathLst>
              <a:path h="7279996" w="7279996">
                <a:moveTo>
                  <a:pt x="0" y="0"/>
                </a:moveTo>
                <a:lnTo>
                  <a:pt x="7279996" y="0"/>
                </a:lnTo>
                <a:lnTo>
                  <a:pt x="7279996" y="7279996"/>
                </a:lnTo>
                <a:lnTo>
                  <a:pt x="0" y="727999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462692" y="1315986"/>
            <a:ext cx="8581500" cy="1082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125"/>
              </a:lnSpc>
            </a:pPr>
            <a:r>
              <a:rPr lang="en-US" sz="6500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Challenges 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1008004" y="8095551"/>
            <a:ext cx="7279996" cy="533213"/>
            <a:chOff x="0" y="0"/>
            <a:chExt cx="1917365" cy="14043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917365" cy="140435"/>
            </a:xfrm>
            <a:custGeom>
              <a:avLst/>
              <a:gdLst/>
              <a:ahLst/>
              <a:cxnLst/>
              <a:rect r="r" b="b" t="t" l="l"/>
              <a:pathLst>
                <a:path h="140435" w="1917365">
                  <a:moveTo>
                    <a:pt x="0" y="0"/>
                  </a:moveTo>
                  <a:lnTo>
                    <a:pt x="1917365" y="0"/>
                  </a:lnTo>
                  <a:lnTo>
                    <a:pt x="1917365" y="140435"/>
                  </a:lnTo>
                  <a:lnTo>
                    <a:pt x="0" y="140435"/>
                  </a:lnTo>
                  <a:close/>
                </a:path>
              </a:pathLst>
            </a:custGeom>
            <a:solidFill>
              <a:srgbClr val="80BFAC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0"/>
              <a:ext cx="1917365" cy="14043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29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1462692" y="3924300"/>
            <a:ext cx="8581500" cy="2876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50"/>
              </a:lnSpc>
            </a:pPr>
          </a:p>
          <a:p>
            <a:pPr algn="l" marL="647700" indent="-323850" lvl="1">
              <a:lnSpc>
                <a:spcPts val="375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Data primaily about politics </a:t>
            </a:r>
          </a:p>
          <a:p>
            <a:pPr algn="l" marL="1295400" indent="-431800" lvl="2">
              <a:lnSpc>
                <a:spcPts val="3750"/>
              </a:lnSpc>
              <a:buFont typeface="Arial"/>
              <a:buChar char="⚬"/>
            </a:pPr>
            <a:r>
              <a:rPr lang="en-US" sz="3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Model would genealize better on more topics</a:t>
            </a:r>
          </a:p>
          <a:p>
            <a:pPr algn="l">
              <a:lnSpc>
                <a:spcPts val="3750"/>
              </a:lnSpc>
            </a:pPr>
          </a:p>
          <a:p>
            <a:pPr algn="l" marL="647700" indent="-323850" lvl="1">
              <a:lnSpc>
                <a:spcPts val="375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Specific data oriented model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154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62361" y="810905"/>
            <a:ext cx="600331" cy="600331"/>
          </a:xfrm>
          <a:custGeom>
            <a:avLst/>
            <a:gdLst/>
            <a:ahLst/>
            <a:cxnLst/>
            <a:rect r="r" b="b" t="t" l="l"/>
            <a:pathLst>
              <a:path h="600331" w="600331">
                <a:moveTo>
                  <a:pt x="0" y="0"/>
                </a:moveTo>
                <a:lnTo>
                  <a:pt x="600331" y="0"/>
                </a:lnTo>
                <a:lnTo>
                  <a:pt x="600331" y="600331"/>
                </a:lnTo>
                <a:lnTo>
                  <a:pt x="0" y="60033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462692" y="1287411"/>
            <a:ext cx="11493549" cy="1108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50"/>
              </a:lnSpc>
            </a:pPr>
            <a:r>
              <a:rPr lang="en-US" sz="6500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Learnings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462692" y="3247170"/>
            <a:ext cx="16825308" cy="66473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81823" indent="-290912" lvl="1">
              <a:lnSpc>
                <a:spcPts val="3772"/>
              </a:lnSpc>
              <a:buFont typeface="Arial"/>
              <a:buChar char="•"/>
            </a:pPr>
            <a:r>
              <a:rPr lang="en-US" b="true" sz="2694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Key NLP techniques in practice</a:t>
            </a:r>
          </a:p>
          <a:p>
            <a:pPr algn="just">
              <a:lnSpc>
                <a:spcPts val="3772"/>
              </a:lnSpc>
            </a:pPr>
          </a:p>
          <a:p>
            <a:pPr algn="just" marL="1163646" indent="-387882" lvl="2">
              <a:lnSpc>
                <a:spcPts val="3772"/>
              </a:lnSpc>
              <a:buFont typeface="Arial"/>
              <a:buChar char="⚬"/>
            </a:pPr>
            <a:r>
              <a:rPr lang="en-US" sz="2694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Text preprocessing -  Tokenization, lemmatization,  noise removal,  language detection</a:t>
            </a:r>
          </a:p>
          <a:p>
            <a:pPr algn="just" marL="1163646" indent="-387882" lvl="2">
              <a:lnSpc>
                <a:spcPts val="3772"/>
              </a:lnSpc>
              <a:buFont typeface="Arial"/>
              <a:buChar char="⚬"/>
            </a:pPr>
            <a:r>
              <a:rPr lang="en-US" sz="2694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Vectorization </a:t>
            </a:r>
          </a:p>
          <a:p>
            <a:pPr algn="just" marL="1745469" indent="-436367" lvl="3">
              <a:lnSpc>
                <a:spcPts val="3772"/>
              </a:lnSpc>
              <a:buFont typeface="Arial"/>
              <a:buChar char="￭"/>
            </a:pPr>
            <a:r>
              <a:rPr lang="en-US" sz="2694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TF - IDF</a:t>
            </a:r>
          </a:p>
          <a:p>
            <a:pPr algn="just" marL="1745469" indent="-436367" lvl="3">
              <a:lnSpc>
                <a:spcPts val="3772"/>
              </a:lnSpc>
              <a:buFont typeface="Arial"/>
              <a:buChar char="￭"/>
            </a:pPr>
            <a:r>
              <a:rPr lang="en-US" sz="2694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Word2vec</a:t>
            </a:r>
          </a:p>
          <a:p>
            <a:pPr algn="just">
              <a:lnSpc>
                <a:spcPts val="3772"/>
              </a:lnSpc>
            </a:pPr>
          </a:p>
          <a:p>
            <a:pPr algn="just" marL="1163646" indent="-387882" lvl="2">
              <a:lnSpc>
                <a:spcPts val="3772"/>
              </a:lnSpc>
              <a:buFont typeface="Arial"/>
              <a:buChar char="⚬"/>
            </a:pPr>
            <a:r>
              <a:rPr lang="en-US" sz="2694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Model development and evaluation</a:t>
            </a:r>
          </a:p>
          <a:p>
            <a:pPr algn="just" marL="1745469" indent="-436367" lvl="3">
              <a:lnSpc>
                <a:spcPts val="3772"/>
              </a:lnSpc>
              <a:buFont typeface="Arial"/>
              <a:buChar char="￭"/>
            </a:pPr>
            <a:r>
              <a:rPr lang="en-US" sz="2694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Traditional machine learning (Logistic Regression, Random Forest)</a:t>
            </a:r>
          </a:p>
          <a:p>
            <a:pPr algn="just" marL="1745469" indent="-436367" lvl="3">
              <a:lnSpc>
                <a:spcPts val="3772"/>
              </a:lnSpc>
              <a:buFont typeface="Arial"/>
              <a:buChar char="￭"/>
            </a:pPr>
            <a:r>
              <a:rPr lang="en-US" sz="2694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Deep Learning (LSTM)</a:t>
            </a:r>
          </a:p>
          <a:p>
            <a:pPr algn="just" marL="1745469" indent="-436367" lvl="3">
              <a:lnSpc>
                <a:spcPts val="3772"/>
              </a:lnSpc>
              <a:buFont typeface="Arial"/>
              <a:buChar char="￭"/>
            </a:pPr>
            <a:r>
              <a:rPr lang="en-US" sz="2694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Fine tuning transformers (BERT)</a:t>
            </a:r>
          </a:p>
          <a:p>
            <a:pPr algn="just">
              <a:lnSpc>
                <a:spcPts val="3772"/>
              </a:lnSpc>
            </a:pPr>
          </a:p>
          <a:p>
            <a:pPr algn="just">
              <a:lnSpc>
                <a:spcPts val="3772"/>
              </a:lnSpc>
            </a:pPr>
          </a:p>
          <a:p>
            <a:pPr algn="just">
              <a:lnSpc>
                <a:spcPts val="3772"/>
              </a:lnSpc>
            </a:pP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1746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62361" y="810905"/>
            <a:ext cx="600331" cy="600331"/>
          </a:xfrm>
          <a:custGeom>
            <a:avLst/>
            <a:gdLst/>
            <a:ahLst/>
            <a:cxnLst/>
            <a:rect r="r" b="b" t="t" l="l"/>
            <a:pathLst>
              <a:path h="600331" w="600331">
                <a:moveTo>
                  <a:pt x="0" y="0"/>
                </a:moveTo>
                <a:lnTo>
                  <a:pt x="600331" y="0"/>
                </a:lnTo>
                <a:lnTo>
                  <a:pt x="600331" y="600331"/>
                </a:lnTo>
                <a:lnTo>
                  <a:pt x="0" y="60033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4898344" y="-2274695"/>
            <a:ext cx="4721913" cy="5431154"/>
            <a:chOff x="0" y="0"/>
            <a:chExt cx="1243631" cy="143042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243631" cy="1430427"/>
            </a:xfrm>
            <a:custGeom>
              <a:avLst/>
              <a:gdLst/>
              <a:ahLst/>
              <a:cxnLst/>
              <a:rect r="r" b="b" t="t" l="l"/>
              <a:pathLst>
                <a:path h="1430427" w="1243631">
                  <a:moveTo>
                    <a:pt x="0" y="0"/>
                  </a:moveTo>
                  <a:lnTo>
                    <a:pt x="1243631" y="0"/>
                  </a:lnTo>
                  <a:lnTo>
                    <a:pt x="1243631" y="1430427"/>
                  </a:lnTo>
                  <a:lnTo>
                    <a:pt x="0" y="1430427"/>
                  </a:lnTo>
                  <a:close/>
                </a:path>
              </a:pathLst>
            </a:custGeom>
            <a:solidFill>
              <a:srgbClr val="80BFAC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0"/>
              <a:ext cx="1243631" cy="14304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2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1462692" y="1220736"/>
            <a:ext cx="12101018" cy="2330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100"/>
              </a:lnSpc>
            </a:pPr>
            <a:r>
              <a:rPr lang="en-US" sz="6500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Conclusion &amp; Recommendations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462692" y="4747282"/>
            <a:ext cx="14767462" cy="31159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37193" indent="-318596" lvl="1">
              <a:lnSpc>
                <a:spcPts val="4131"/>
              </a:lnSpc>
              <a:buFont typeface="Arial"/>
              <a:buChar char="•"/>
            </a:pPr>
            <a:r>
              <a:rPr lang="en-US" sz="295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Transfer Learning models performed the best for the problem</a:t>
            </a:r>
          </a:p>
          <a:p>
            <a:pPr algn="just" marL="637193" indent="-318596" lvl="1">
              <a:lnSpc>
                <a:spcPts val="4131"/>
              </a:lnSpc>
              <a:buFont typeface="Arial"/>
              <a:buChar char="•"/>
            </a:pPr>
            <a:r>
              <a:rPr lang="en-US" sz="295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The data was limited, which led to a non generalized model</a:t>
            </a:r>
          </a:p>
          <a:p>
            <a:pPr algn="just" marL="637193" indent="-318596" lvl="1">
              <a:lnSpc>
                <a:spcPts val="4131"/>
              </a:lnSpc>
              <a:buFont typeface="Arial"/>
              <a:buChar char="•"/>
            </a:pPr>
            <a:r>
              <a:rPr lang="en-US" sz="295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Streamlit app is a basic application, but it shows the importance of NLP applications</a:t>
            </a:r>
          </a:p>
          <a:p>
            <a:pPr algn="just" marL="637193" indent="-318596" lvl="1">
              <a:lnSpc>
                <a:spcPts val="4131"/>
              </a:lnSpc>
              <a:buFont typeface="Arial"/>
              <a:buChar char="•"/>
            </a:pPr>
            <a:r>
              <a:rPr lang="en-US" sz="295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Training the model on a more general database would result in a better model, but would be heavy to collect all types of News articles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1746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154582" y="1543050"/>
            <a:ext cx="7978837" cy="7200900"/>
          </a:xfrm>
          <a:custGeom>
            <a:avLst/>
            <a:gdLst/>
            <a:ahLst/>
            <a:cxnLst/>
            <a:rect r="r" b="b" t="t" l="l"/>
            <a:pathLst>
              <a:path h="7200900" w="7978837">
                <a:moveTo>
                  <a:pt x="0" y="0"/>
                </a:moveTo>
                <a:lnTo>
                  <a:pt x="7978836" y="0"/>
                </a:lnTo>
                <a:lnTo>
                  <a:pt x="7978836" y="7200900"/>
                </a:lnTo>
                <a:lnTo>
                  <a:pt x="0" y="72009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DAGkDg76kfk</dc:identifier>
  <dcterms:modified xsi:type="dcterms:W3CDTF">2011-08-01T06:04:30Z</dcterms:modified>
  <cp:revision>1</cp:revision>
  <dc:title>NLP GroupProject</dc:title>
</cp:coreProperties>
</file>